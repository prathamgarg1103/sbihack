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Diya — an agentic AI copilot that lives inside YONO and fixes the two things stopping people from going deeper: discovery and trust. Everything you'll see is a working prototype on synthetic data — one API key to run it. Note the four dots on the phone: that's the agent's attention budget. We'll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 million registered users — and most never go past UPI and balance-check. Two wounds keep them shallow. Insurance has a trust wound: banks are the most-complained channel for mis-selling — 12,000+ complaints in a single year, forced policies, duped pensioners. SBI is already under regulatory pressure to fix it. Investing has a self-dealing wound: the shelf feels narrow and SBI-skewed, so users leave for Groww. But 91% of account-holders are open to transaction-based offers. Demand is fine. The channel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reframe that wins the room. We are not pitching cross-sell. We're pitching mis-selling remediation — something SBI is already scrambling to deliver — dressed as an adoption engine. We move the sale off the coercive human channel onto an honest, opt-in, suitability-filtered, explainable digital one. And with our reverse mis-selling detector, remediation isn't a metaphor: Diya audits the products users were ALREADY sold. Honesty becomes the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Diya is not a chatbot waiting for a query. It's a continuous perceive-reason-act-learn loop. It perceives a consented transaction stream, reasons with a live Claude tool-calling loop — and before anything ships, a second adversarial agent argues against it. It acts with a vernacular, explainable nudge, or it suppresses — it can only interrupt four times a month. And it learns from every outcome. Every decision, including the decision to stay silent,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journeys run on the same framework today — product adoption, platform adoption and engagement. A: idle cash to sweep-FD. B: the competitor-premium honest comparison — our hero. C: a salary jump opens the whole-market investing shelf. D: feature-blind-spot discovery with a guided walkthrough and an adoption ladder. S: subscription saver — pause the UPI mandate the bank sees at source. And R, new: the reverse mis-selling audit of products the user already owns. B and R together are the trust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trust-first looks like. When Diya compares an SBI policy to the one the user already pays, it shows the row where the COMPETITOR wins — the higher claim-settlement ratio — right next to where SBI is cheaper. And there's now a third column: Do nothing. Keeping your current policy is presented as a legitimate option with its own honest math. No invented numbers — everything is retrieved from the cited corpus. That honesty is exactly what the mis-selling channel never gave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that makes judges sit up. Every other team will recommend products. Diya also AUDITS them — including the ones the bank itself sold. It runs the same suitability filter over what the user already owns. When a legacy ULIP fails, Diya flags it and lays out an honest exit-vs-stay path inside the free-look or surrender window — exact surrender value, what cover is lost, and whether a simpler product (or nothing) fits better. The bank's own agent flagging the bank's own past mis-sale: that is mis-selling remediation made literal, and it's the single strongest trust signal we can put in front of a burned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is the product, not a feature — four layers deep. One: grounding — no number the agent didn't retrieve. Two: the explainability card — trigger, honest math with charges, the data used, and what's NOT covered. Three: the do-nothing baseline — doing nothing is a first-class option, and when it wins, Diya says so. Four, and new: a devil's-advocate agent. A second adversarial model attacks every recommendation before it ships. If the objection is strong, the nudge dies. If it's weak, we show the objection to the user anyway. We don't just claim honesty — we run a prosecutor against ourselves and publish the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fears an AI that spams offers. Diya's restraint is tangible, not a promise. First, the attention budget: it can interrupt each user at most four times a month, and the budget is spent visibly in the UI. Second, the adversarial veto: the devil's-advocate agent can kill a nudge outright. Third, suppression is a first-class, logged outcome — Mission Control shows the agent sweeping the base and choosing to hold back. The agent that interrupts least is trusted most — and here you can watch it exercise that restraint.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SBI's base can't or won't use YONO — language, literacy, smartphone access. So Diya speaks Hindi and regional languages natively, and reads every nudge aloud. And for the users most at risk — the pensioners who were duped by the old channel — we added Guardian co-consent: above a threshold, an adoption needs a family member's approval on a second device. Consent is first-class and revocable everywhere. A mis-sale now has to fool two people on two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runs today — it is not slideware. A React shell mocks YONO; FastAPI runs the loop. The trigger engine turns the synthetic transaction stream into adoption moments. The agent core is a live Claude tool-calling loop with a deterministic fallback — now with the devil's-advocate adversarial pass. RAG grounds every number; the suitability filter is hard rules and now also audits owned products; the feedback store closes the learn loop and hash-chains every decision into the audit trail. One API key to run everything. 26 tests. Live on Vercel. Synthetic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has two engines. Revenue: YONO already earns about 100 crore rupees a quarter distributing subsidiary insurance and MF products; Diya lifts that across product, platform and engagement adoption — and reactivating a dormant user costs a fraction of acquiring a new one. Risk: every recommendation, shown or suppressed, is sealed into a hash-chained, tamper-evident suitability certificate with a verify endpoint and a Compliance view. When the regulator asks SBI to prove it didn't mis-sell, that's a one-click answer. Diya isn't just UX — it's a risk-management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is architectural, not aspirational. Mission Control already runs the same loop across every demo user at once, deciding per person within their attention budget. Adding a journey means writing a trigger and a few corpus docs — not new code — which is how this framework covers the 100+ journeys YONO has planned. And because the suitability filter, the adversarial pass and the audit chain are part of the framework, the compliance story is portable: white-label it to any bank and the guarantees travel with it. The adoption ladder compounds — Bill Pay unlocks AutoPay, then Credit Score, then FD.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Diya takes SBI's two biggest liabilities — a distrusted insurance channel and a narrow, self-dealing investing shelf — and makes them the reason to choose YONO. Honest, agentic, consent-first, audit-ready, and it speaks your language. It lifts adoption AND removes the mis-selling risk SBI is under pressure to fix — with a hash-chained trail to prove it. It's live right now — scan the code.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not part of the pitch. Inventory of every screenshot placeholder in this deck. 1. [Slide 6 — Hero demo (Flow B)] Flow B honest comparison — amber “where the competitor wins” row + “Do nothing” column — Premium Leaker persona → “See the honest comparison”; include the amber competitor-wins box and the Do-nothing column 2. [Slide 7 — Reverse mis-selling detector] Reverse mis-selling nudge card — ULIP flagged, exit-vs-stay path with surrender math — Persona holding a legacy ULIP → Diya flags it; capture the exit-vs-stay card incl. free-look/surrender window and “Talk to a human” 3. [Slide 8 — Transparency stack] “Why am I seeing this?” card — incl. the devil's-advocate objection the nudge survived — Any persona → tap “Why am I seeing this?”; capture trigger + honest math + data used + the surviving adversarial objection 4. [Slide 9 — Agentic restraint] Mission Control feed — nudged vs. held-back decisions, with per-user attention-budget meters — Toggle to Mission Control; capture the sweep feed showing held-back users + the 4-dot budget meters 5. [Slide 10 — Inclusion &amp; protection] Hindi nudge card with voice read-aloud active — Any persona → toggle हिंदी + tap the speaker icon; capture the Hindi card with voice indicator 6. [Slide 10 — Inclusion &amp; protection] Guardian co-consent — approval request on the family member's device — Assisted-user persona → accept an above-threshold nudge; capture the second-device co-approval screen 7. [Slide 12 — Business potential / compliance] Compliance view — hash-chained audit log + verify endpoint — Mission Control → Compliance tab; capture the certificate chain with hashes and the verify status 8. [Slide 14 — Close] QR code → saarthi-nu.vercel.app — Generate a QR for https://saarthi-nu.vercel.app and drop it into the dashed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713232"/>
            <a:ext cx="566928" cy="566928"/>
          </a:xfrm>
          <a:prstGeom prst="ellipse">
            <a:avLst/>
          </a:prstGeom>
          <a:solidFill>
            <a:srgbClr val="0FB98A"/>
          </a:solidFill>
          <a:ln/>
        </p:spPr>
        <p:txBody>
          <a:bodyPr/>
          <a:p/>
        </p:txBody>
      </p:sp>
      <p:sp>
        <p:nvSpPr>
          <p:cNvPr id="3" name="Shape 1"/>
          <p:cNvSpPr/>
          <p:nvPr/>
        </p:nvSpPr>
        <p:spPr>
          <a:xfrm>
            <a:off x="566928" y="640080"/>
            <a:ext cx="566928" cy="566928"/>
          </a:xfrm>
          <a:prstGeom prst="ellipse">
            <a:avLst/>
          </a:prstGeom>
          <a:solidFill>
            <a:srgbClr val="3D8BFF"/>
          </a:solidFill>
          <a:ln w="19050">
            <a:solidFill>
              <a:srgbClr val="0B1F3A"/>
            </a:solidFill>
            <a:prstDash val="solid"/>
          </a:ln>
        </p:spPr>
        <p:txBody>
          <a:bodyPr/>
          <a:p/>
        </p:txBody>
      </p:sp>
      <p:sp>
        <p:nvSpPr>
          <p:cNvPr id="4" name="Text 2"/>
          <p:cNvSpPr/>
          <p:nvPr/>
        </p:nvSpPr>
        <p:spPr>
          <a:xfrm>
            <a:off x="566928" y="62179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D</a:t>
            </a:r>
            <a:endParaRPr lang="en-US" sz="2400" dirty="0"/>
          </a:p>
        </p:txBody>
      </p:sp>
      <p:sp>
        <p:nvSpPr>
          <p:cNvPr id="5" name="Text 3"/>
          <p:cNvSpPr/>
          <p:nvPr/>
        </p:nvSpPr>
        <p:spPr>
          <a:xfrm>
            <a:off x="548640" y="1481328"/>
            <a:ext cx="5120640" cy="91440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Diya</a:t>
            </a:r>
            <a:endParaRPr lang="en-US" sz="5800" dirty="0"/>
          </a:p>
        </p:txBody>
      </p:sp>
      <p:sp>
        <p:nvSpPr>
          <p:cNvPr id="6" name="Text 4"/>
          <p:cNvSpPr/>
          <p:nvPr/>
        </p:nvSpPr>
        <p:spPr>
          <a:xfrm>
            <a:off x="566928" y="2395728"/>
            <a:ext cx="5212080" cy="411480"/>
          </a:xfrm>
          <a:prstGeom prst="rect">
            <a:avLst/>
          </a:prstGeom>
          <a:noFill/>
          <a:ln/>
        </p:spPr>
        <p:txBody>
          <a:bodyPr wrap="square" lIns="0" tIns="0" rIns="0" bIns="0" rtlCol="0" anchor="ctr"/>
          <a:lstStyle/>
          <a:p>
            <a:pPr indent="0" marL="0">
              <a:buNone/>
            </a:pPr>
            <a:r>
              <a:rPr lang="en-US" sz="1900" b="1" dirty="0">
                <a:solidFill>
                  <a:srgbClr val="BFD4F2"/>
                </a:solidFill>
                <a:latin typeface="Arial" pitchFamily="34" charset="0"/>
                <a:ea typeface="Arial" pitchFamily="34" charset="-122"/>
                <a:cs typeface="Arial" pitchFamily="34" charset="-120"/>
              </a:rPr>
              <a:t>The Agentic Adoption Copilot for YONO</a:t>
            </a:r>
            <a:endParaRPr lang="en-US" sz="1900" dirty="0"/>
          </a:p>
        </p:txBody>
      </p:sp>
      <p:sp>
        <p:nvSpPr>
          <p:cNvPr id="7" name="Text 5"/>
          <p:cNvSpPr/>
          <p:nvPr/>
        </p:nvSpPr>
        <p:spPr>
          <a:xfrm>
            <a:off x="566928" y="2834640"/>
            <a:ext cx="5212080" cy="365760"/>
          </a:xfrm>
          <a:prstGeom prst="rect">
            <a:avLst/>
          </a:prstGeom>
          <a:noFill/>
          <a:ln/>
        </p:spPr>
        <p:txBody>
          <a:bodyPr wrap="square" lIns="0" tIns="0" rIns="0" bIns="0" rtlCol="0" anchor="ctr"/>
          <a:lstStyle/>
          <a:p>
            <a:pPr indent="0" marL="0">
              <a:buNone/>
            </a:pPr>
            <a:r>
              <a:rPr lang="en-US" sz="1350" i="1" dirty="0">
                <a:solidFill>
                  <a:srgbClr val="8FA6C8"/>
                </a:solidFill>
                <a:latin typeface="Arial" pitchFamily="34" charset="0"/>
                <a:ea typeface="Arial" pitchFamily="34" charset="-122"/>
                <a:cs typeface="Arial" pitchFamily="34" charset="-120"/>
              </a:rPr>
              <a:t>Trust-first AI that turns dormant users into confident ones.</a:t>
            </a:r>
            <a:endParaRPr lang="en-US" sz="1350" dirty="0"/>
          </a:p>
        </p:txBody>
      </p:sp>
      <p:sp>
        <p:nvSpPr>
          <p:cNvPr id="8" name="Text 6"/>
          <p:cNvSpPr/>
          <p:nvPr/>
        </p:nvSpPr>
        <p:spPr>
          <a:xfrm>
            <a:off x="566928" y="4224528"/>
            <a:ext cx="5212080" cy="548640"/>
          </a:xfrm>
          <a:prstGeom prst="rect">
            <a:avLst/>
          </a:prstGeom>
          <a:noFill/>
          <a:ln/>
        </p:spPr>
        <p:txBody>
          <a:bodyPr wrap="square" lIns="0" tIns="0" rIns="0" bIns="0" rtlCol="0" anchor="ctr"/>
          <a:lstStyle/>
          <a:p>
            <a:pPr indent="0" marL="0">
              <a:buNone/>
            </a:pPr>
            <a:r>
              <a:rPr lang="en-US" sz="1050" dirty="0">
                <a:solidFill>
                  <a:srgbClr val="8FA6C8"/>
                </a:solidFill>
                <a:latin typeface="Arial" pitchFamily="34" charset="0"/>
                <a:ea typeface="Arial" pitchFamily="34" charset="-122"/>
                <a:cs typeface="Arial" pitchFamily="34" charset="-120"/>
              </a:rPr>
              <a:t>SBI Hackathon @ GFF 2026 — AI &amp; Emerging Tech · Digital Adoption track</a:t>
            </a:r>
            <a:endParaRPr lang="en-US" sz="1050" dirty="0"/>
          </a:p>
          <a:p>
            <a:pPr indent="0" marL="0">
              <a:buNone/>
            </a:pPr>
            <a:r>
              <a:rPr lang="en-US" sz="1050" dirty="0">
                <a:solidFill>
                  <a:srgbClr val="6E82A3"/>
                </a:solidFill>
                <a:latin typeface="Arial" pitchFamily="34" charset="0"/>
                <a:ea typeface="Arial" pitchFamily="34" charset="-122"/>
                <a:cs typeface="Arial" pitchFamily="34" charset="-120"/>
              </a:rPr>
              <a:t>Team Diya — Pratham Garg · Thapar Institute of Engineering &amp; Technology</a:t>
            </a:r>
            <a:endParaRPr lang="en-US" sz="1050" dirty="0"/>
          </a:p>
        </p:txBody>
      </p:sp>
      <p:sp>
        <p:nvSpPr>
          <p:cNvPr id="9" name="Shape 7"/>
          <p:cNvSpPr/>
          <p:nvPr/>
        </p:nvSpPr>
        <p:spPr>
          <a:xfrm>
            <a:off x="6080760" y="457200"/>
            <a:ext cx="2423160" cy="4251960"/>
          </a:xfrm>
          <a:prstGeom prst="roundRect">
            <a:avLst>
              <a:gd name="adj" fmla="val 6038"/>
            </a:avLst>
          </a:prstGeom>
          <a:solidFill>
            <a:srgbClr val="0E2A4F"/>
          </a:solidFill>
          <a:ln w="15875">
            <a:solidFill>
              <a:srgbClr val="2C5EA8"/>
            </a:solidFill>
            <a:prstDash val="solid"/>
          </a:ln>
        </p:spPr>
        <p:txBody>
          <a:bodyPr/>
          <a:p/>
        </p:txBody>
      </p:sp>
      <p:sp>
        <p:nvSpPr>
          <p:cNvPr id="10" name="Shape 8"/>
          <p:cNvSpPr/>
          <p:nvPr/>
        </p:nvSpPr>
        <p:spPr>
          <a:xfrm>
            <a:off x="6217920" y="603504"/>
            <a:ext cx="2148840" cy="3959352"/>
          </a:xfrm>
          <a:prstGeom prst="roundRect">
            <a:avLst>
              <a:gd name="adj" fmla="val 4255"/>
            </a:avLst>
          </a:prstGeom>
          <a:solidFill>
            <a:srgbClr val="10345F"/>
          </a:solidFill>
          <a:ln/>
        </p:spPr>
        <p:txBody>
          <a:bodyPr/>
          <a:p/>
        </p:txBody>
      </p:sp>
      <p:sp>
        <p:nvSpPr>
          <p:cNvPr id="11" name="Text 9"/>
          <p:cNvSpPr/>
          <p:nvPr/>
        </p:nvSpPr>
        <p:spPr>
          <a:xfrm>
            <a:off x="6355080" y="713232"/>
            <a:ext cx="1371600" cy="228600"/>
          </a:xfrm>
          <a:prstGeom prst="rect">
            <a:avLst/>
          </a:prstGeom>
          <a:noFill/>
          <a:ln/>
        </p:spPr>
        <p:txBody>
          <a:bodyPr wrap="square" lIns="0" tIns="0" rIns="0" bIns="0" rtlCol="0" anchor="ctr"/>
          <a:lstStyle/>
          <a:p>
            <a:pPr indent="0" marL="0">
              <a:buNone/>
            </a:pPr>
            <a:r>
              <a:rPr lang="en-US" sz="900" b="1" dirty="0">
                <a:solidFill>
                  <a:srgbClr val="9FC0EF"/>
                </a:solidFill>
                <a:latin typeface="Arial" pitchFamily="34" charset="0"/>
                <a:ea typeface="Arial" pitchFamily="34" charset="-122"/>
                <a:cs typeface="Arial" pitchFamily="34" charset="-120"/>
              </a:rPr>
              <a:t>YONO  ·  Diya</a:t>
            </a:r>
            <a:endParaRPr lang="en-US" sz="900" dirty="0"/>
          </a:p>
        </p:txBody>
      </p:sp>
      <p:sp>
        <p:nvSpPr>
          <p:cNvPr id="12" name="Shape 10"/>
          <p:cNvSpPr/>
          <p:nvPr/>
        </p:nvSpPr>
        <p:spPr>
          <a:xfrm>
            <a:off x="7699248" y="777240"/>
            <a:ext cx="91440" cy="91440"/>
          </a:xfrm>
          <a:prstGeom prst="ellipse">
            <a:avLst/>
          </a:prstGeom>
          <a:solidFill>
            <a:srgbClr val="0FB98A"/>
          </a:solidFill>
          <a:ln w="9525">
            <a:solidFill>
              <a:srgbClr val="0FB98A"/>
            </a:solidFill>
            <a:prstDash val="solid"/>
          </a:ln>
        </p:spPr>
        <p:txBody>
          <a:bodyPr/>
          <a:p/>
        </p:txBody>
      </p:sp>
      <p:sp>
        <p:nvSpPr>
          <p:cNvPr id="13" name="Shape 11"/>
          <p:cNvSpPr/>
          <p:nvPr/>
        </p:nvSpPr>
        <p:spPr>
          <a:xfrm>
            <a:off x="7845552" y="777240"/>
            <a:ext cx="91440" cy="91440"/>
          </a:xfrm>
          <a:prstGeom prst="ellipse">
            <a:avLst/>
          </a:prstGeom>
          <a:solidFill>
            <a:srgbClr val="10345F"/>
          </a:solidFill>
          <a:ln w="9525">
            <a:solidFill>
              <a:srgbClr val="4A6FA0"/>
            </a:solidFill>
            <a:prstDash val="solid"/>
          </a:ln>
        </p:spPr>
        <p:txBody>
          <a:bodyPr/>
          <a:p/>
        </p:txBody>
      </p:sp>
      <p:sp>
        <p:nvSpPr>
          <p:cNvPr id="14" name="Shape 12"/>
          <p:cNvSpPr/>
          <p:nvPr/>
        </p:nvSpPr>
        <p:spPr>
          <a:xfrm>
            <a:off x="7991856" y="777240"/>
            <a:ext cx="91440" cy="91440"/>
          </a:xfrm>
          <a:prstGeom prst="ellipse">
            <a:avLst/>
          </a:prstGeom>
          <a:solidFill>
            <a:srgbClr val="10345F"/>
          </a:solidFill>
          <a:ln w="9525">
            <a:solidFill>
              <a:srgbClr val="4A6FA0"/>
            </a:solidFill>
            <a:prstDash val="solid"/>
          </a:ln>
        </p:spPr>
        <p:txBody>
          <a:bodyPr/>
          <a:p/>
        </p:txBody>
      </p:sp>
      <p:sp>
        <p:nvSpPr>
          <p:cNvPr id="15" name="Shape 13"/>
          <p:cNvSpPr/>
          <p:nvPr/>
        </p:nvSpPr>
        <p:spPr>
          <a:xfrm>
            <a:off x="8138160" y="777240"/>
            <a:ext cx="91440" cy="91440"/>
          </a:xfrm>
          <a:prstGeom prst="ellipse">
            <a:avLst/>
          </a:prstGeom>
          <a:solidFill>
            <a:srgbClr val="10345F"/>
          </a:solidFill>
          <a:ln w="9525">
            <a:solidFill>
              <a:srgbClr val="4A6FA0"/>
            </a:solidFill>
            <a:prstDash val="solid"/>
          </a:ln>
        </p:spPr>
        <p:txBody>
          <a:bodyPr/>
          <a:p/>
        </p:txBody>
      </p:sp>
      <p:sp>
        <p:nvSpPr>
          <p:cNvPr id="16" name="Shape 14"/>
          <p:cNvSpPr/>
          <p:nvPr/>
        </p:nvSpPr>
        <p:spPr>
          <a:xfrm>
            <a:off x="6355080" y="1115568"/>
            <a:ext cx="603504" cy="457200"/>
          </a:xfrm>
          <a:prstGeom prst="roundRect">
            <a:avLst>
              <a:gd name="adj" fmla="val 10000"/>
            </a:avLst>
          </a:prstGeom>
          <a:solidFill>
            <a:srgbClr val="16406F"/>
          </a:solidFill>
          <a:ln/>
        </p:spPr>
        <p:txBody>
          <a:bodyPr/>
          <a:p/>
        </p:txBody>
      </p:sp>
      <p:sp>
        <p:nvSpPr>
          <p:cNvPr id="17" name="Text 15"/>
          <p:cNvSpPr/>
          <p:nvPr/>
        </p:nvSpPr>
        <p:spPr>
          <a:xfrm>
            <a:off x="6355080" y="1115568"/>
            <a:ext cx="603504" cy="457200"/>
          </a:xfrm>
          <a:prstGeom prst="rect">
            <a:avLst/>
          </a:prstGeom>
          <a:noFill/>
          <a:ln/>
        </p:spPr>
        <p:txBody>
          <a:bodyPr wrap="square" lIns="0" tIns="0" rIns="0" bIns="0" rtlCol="0" anchor="ctr"/>
          <a:lstStyle/>
          <a:p>
            <a:pPr algn="ctr" indent="0" marL="0">
              <a:buNone/>
            </a:pPr>
            <a:r>
              <a:rPr lang="en-US" sz="750" dirty="0">
                <a:solidFill>
                  <a:srgbClr val="9FC0EF"/>
                </a:solidFill>
                <a:latin typeface="Arial" pitchFamily="34" charset="0"/>
                <a:ea typeface="Arial" pitchFamily="34" charset="-122"/>
                <a:cs typeface="Arial" pitchFamily="34" charset="-120"/>
              </a:rPr>
              <a:t>UPI</a:t>
            </a:r>
            <a:endParaRPr lang="en-US" sz="750" dirty="0"/>
          </a:p>
        </p:txBody>
      </p:sp>
      <p:sp>
        <p:nvSpPr>
          <p:cNvPr id="18" name="Shape 16"/>
          <p:cNvSpPr/>
          <p:nvPr/>
        </p:nvSpPr>
        <p:spPr>
          <a:xfrm>
            <a:off x="7059168" y="1115568"/>
            <a:ext cx="603504" cy="457200"/>
          </a:xfrm>
          <a:prstGeom prst="roundRect">
            <a:avLst>
              <a:gd name="adj" fmla="val 10000"/>
            </a:avLst>
          </a:prstGeom>
          <a:solidFill>
            <a:srgbClr val="16406F"/>
          </a:solidFill>
          <a:ln/>
        </p:spPr>
        <p:txBody>
          <a:bodyPr/>
          <a:p/>
        </p:txBody>
      </p:sp>
      <p:sp>
        <p:nvSpPr>
          <p:cNvPr id="19" name="Text 17"/>
          <p:cNvSpPr/>
          <p:nvPr/>
        </p:nvSpPr>
        <p:spPr>
          <a:xfrm>
            <a:off x="7059168" y="1115568"/>
            <a:ext cx="603504" cy="457200"/>
          </a:xfrm>
          <a:prstGeom prst="rect">
            <a:avLst/>
          </a:prstGeom>
          <a:noFill/>
          <a:ln/>
        </p:spPr>
        <p:txBody>
          <a:bodyPr wrap="square" lIns="0" tIns="0" rIns="0" bIns="0" rtlCol="0" anchor="ctr"/>
          <a:lstStyle/>
          <a:p>
            <a:pPr algn="ctr" indent="0" marL="0">
              <a:buNone/>
            </a:pPr>
            <a:r>
              <a:rPr lang="en-US" sz="750" dirty="0">
                <a:solidFill>
                  <a:srgbClr val="9FC0EF"/>
                </a:solidFill>
                <a:latin typeface="Arial" pitchFamily="34" charset="0"/>
                <a:ea typeface="Arial" pitchFamily="34" charset="-122"/>
                <a:cs typeface="Arial" pitchFamily="34" charset="-120"/>
              </a:rPr>
              <a:t>Balance</a:t>
            </a:r>
            <a:endParaRPr lang="en-US" sz="750" dirty="0"/>
          </a:p>
        </p:txBody>
      </p:sp>
      <p:sp>
        <p:nvSpPr>
          <p:cNvPr id="20" name="Shape 18"/>
          <p:cNvSpPr/>
          <p:nvPr/>
        </p:nvSpPr>
        <p:spPr>
          <a:xfrm>
            <a:off x="7763256" y="1115568"/>
            <a:ext cx="603504" cy="457200"/>
          </a:xfrm>
          <a:prstGeom prst="roundRect">
            <a:avLst>
              <a:gd name="adj" fmla="val 10000"/>
            </a:avLst>
          </a:prstGeom>
          <a:solidFill>
            <a:srgbClr val="16406F"/>
          </a:solidFill>
          <a:ln/>
        </p:spPr>
        <p:txBody>
          <a:bodyPr/>
          <a:p/>
        </p:txBody>
      </p:sp>
      <p:sp>
        <p:nvSpPr>
          <p:cNvPr id="21" name="Text 19"/>
          <p:cNvSpPr/>
          <p:nvPr/>
        </p:nvSpPr>
        <p:spPr>
          <a:xfrm>
            <a:off x="7763256" y="1115568"/>
            <a:ext cx="603504" cy="457200"/>
          </a:xfrm>
          <a:prstGeom prst="rect">
            <a:avLst/>
          </a:prstGeom>
          <a:noFill/>
          <a:ln/>
        </p:spPr>
        <p:txBody>
          <a:bodyPr wrap="square" lIns="0" tIns="0" rIns="0" bIns="0" rtlCol="0" anchor="ctr"/>
          <a:lstStyle/>
          <a:p>
            <a:pPr algn="ctr" indent="0" marL="0">
              <a:buNone/>
            </a:pPr>
            <a:r>
              <a:rPr lang="en-US" sz="750" dirty="0">
                <a:solidFill>
                  <a:srgbClr val="9FC0EF"/>
                </a:solidFill>
                <a:latin typeface="Arial" pitchFamily="34" charset="0"/>
                <a:ea typeface="Arial" pitchFamily="34" charset="-122"/>
                <a:cs typeface="Arial" pitchFamily="34" charset="-120"/>
              </a:rPr>
              <a:t>Cards</a:t>
            </a:r>
            <a:endParaRPr lang="en-US" sz="750" dirty="0"/>
          </a:p>
        </p:txBody>
      </p:sp>
      <p:sp>
        <p:nvSpPr>
          <p:cNvPr id="22" name="Shape 20"/>
          <p:cNvSpPr/>
          <p:nvPr/>
        </p:nvSpPr>
        <p:spPr>
          <a:xfrm>
            <a:off x="6355080" y="1828800"/>
            <a:ext cx="1874520" cy="1965960"/>
          </a:xfrm>
          <a:prstGeom prst="roundRect">
            <a:avLst>
              <a:gd name="adj" fmla="val 3415"/>
            </a:avLst>
          </a:prstGeom>
          <a:solidFill>
            <a:srgbClr val="FFFFFF"/>
          </a:solidFill>
          <a:ln/>
          <a:effectLst>
            <a:outerShdw sx="100000" sy="100000" kx="0" ky="0" algn="bl" rotWithShape="0" blurRad="88900" dist="25400" dir="2700000">
              <a:srgbClr val="8A97AC">
                <a:alpha val="30000"/>
              </a:srgbClr>
            </a:outerShdw>
          </a:effectLst>
        </p:spPr>
        <p:txBody>
          <a:bodyPr/>
          <a:p/>
        </p:txBody>
      </p:sp>
      <p:sp>
        <p:nvSpPr>
          <p:cNvPr id="23" name="Text 21"/>
          <p:cNvSpPr/>
          <p:nvPr/>
        </p:nvSpPr>
        <p:spPr>
          <a:xfrm>
            <a:off x="6473952" y="1920240"/>
            <a:ext cx="1645920" cy="201168"/>
          </a:xfrm>
          <a:prstGeom prst="rect">
            <a:avLst/>
          </a:prstGeom>
          <a:noFill/>
          <a:ln/>
        </p:spPr>
        <p:txBody>
          <a:bodyPr wrap="square" lIns="0" tIns="0" rIns="0" bIns="0" rtlCol="0" anchor="ctr"/>
          <a:lstStyle/>
          <a:p>
            <a:pPr indent="0" marL="0">
              <a:buNone/>
            </a:pPr>
            <a:r>
              <a:rPr lang="en-US" sz="950" b="1" dirty="0">
                <a:solidFill>
                  <a:srgbClr val="1755C4"/>
                </a:solidFill>
                <a:latin typeface="Arial" pitchFamily="34" charset="0"/>
                <a:ea typeface="Arial" pitchFamily="34" charset="-122"/>
                <a:cs typeface="Arial" pitchFamily="34" charset="-120"/>
              </a:rPr>
              <a:t>Diya</a:t>
            </a:r>
            <a:endParaRPr lang="en-US" sz="950" dirty="0"/>
          </a:p>
        </p:txBody>
      </p:sp>
      <p:sp>
        <p:nvSpPr>
          <p:cNvPr id="24" name="Text 22"/>
          <p:cNvSpPr/>
          <p:nvPr/>
        </p:nvSpPr>
        <p:spPr>
          <a:xfrm>
            <a:off x="6473952" y="2139696"/>
            <a:ext cx="1645920" cy="960120"/>
          </a:xfrm>
          <a:prstGeom prst="rect">
            <a:avLst/>
          </a:prstGeom>
          <a:noFill/>
          <a:ln/>
        </p:spPr>
        <p:txBody>
          <a:bodyPr wrap="square" lIns="0" tIns="0" rIns="0" bIns="0" rtlCol="0" anchor="ctr"/>
          <a:lstStyle/>
          <a:p>
            <a:pPr indent="0" marL="0">
              <a:buNone/>
            </a:pPr>
            <a:r>
              <a:rPr lang="en-US" sz="850" dirty="0">
                <a:solidFill>
                  <a:srgbClr val="16243D"/>
                </a:solidFill>
                <a:latin typeface="Arial" pitchFamily="34" charset="0"/>
                <a:ea typeface="Arial" pitchFamily="34" charset="-122"/>
                <a:cs typeface="Arial" pitchFamily="34" charset="-120"/>
              </a:rPr>
              <a:t>आपके ₹1,240/माह एक और बीमा कंपनी को जा रहे हैं। 30 सेकंड की ईमानदार तुलना देखें?</a:t>
            </a:r>
            <a:endParaRPr lang="en-US" sz="850" dirty="0"/>
          </a:p>
        </p:txBody>
      </p:sp>
      <p:sp>
        <p:nvSpPr>
          <p:cNvPr id="25" name="Shape 23"/>
          <p:cNvSpPr/>
          <p:nvPr/>
        </p:nvSpPr>
        <p:spPr>
          <a:xfrm>
            <a:off x="6473952" y="3182112"/>
            <a:ext cx="822960" cy="292608"/>
          </a:xfrm>
          <a:prstGeom prst="roundRect">
            <a:avLst>
              <a:gd name="adj" fmla="val 15625"/>
            </a:avLst>
          </a:prstGeom>
          <a:solidFill>
            <a:srgbClr val="0FB98A"/>
          </a:solidFill>
          <a:ln/>
        </p:spPr>
        <p:txBody>
          <a:bodyPr/>
          <a:p/>
        </p:txBody>
      </p:sp>
      <p:sp>
        <p:nvSpPr>
          <p:cNvPr id="26" name="Text 24"/>
          <p:cNvSpPr/>
          <p:nvPr/>
        </p:nvSpPr>
        <p:spPr>
          <a:xfrm>
            <a:off x="6473952" y="3182112"/>
            <a:ext cx="822960" cy="29260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तुलना देखें</a:t>
            </a:r>
            <a:endParaRPr lang="en-US" sz="750" dirty="0"/>
          </a:p>
        </p:txBody>
      </p:sp>
      <p:sp>
        <p:nvSpPr>
          <p:cNvPr id="27" name="Shape 25"/>
          <p:cNvSpPr/>
          <p:nvPr/>
        </p:nvSpPr>
        <p:spPr>
          <a:xfrm>
            <a:off x="7370064" y="3182112"/>
            <a:ext cx="749808" cy="292608"/>
          </a:xfrm>
          <a:prstGeom prst="roundRect">
            <a:avLst>
              <a:gd name="adj" fmla="val 15625"/>
            </a:avLst>
          </a:prstGeom>
          <a:solidFill>
            <a:srgbClr val="F4F6FB"/>
          </a:solidFill>
          <a:ln/>
        </p:spPr>
        <p:txBody>
          <a:bodyPr/>
          <a:p/>
        </p:txBody>
      </p:sp>
      <p:sp>
        <p:nvSpPr>
          <p:cNvPr id="28" name="Text 26"/>
          <p:cNvSpPr/>
          <p:nvPr/>
        </p:nvSpPr>
        <p:spPr>
          <a:xfrm>
            <a:off x="7370064" y="3182112"/>
            <a:ext cx="749808" cy="292608"/>
          </a:xfrm>
          <a:prstGeom prst="rect">
            <a:avLst/>
          </a:prstGeom>
          <a:noFill/>
          <a:ln/>
        </p:spPr>
        <p:txBody>
          <a:bodyPr wrap="square" lIns="0" tIns="0" rIns="0" bIns="0" rtlCol="0" anchor="ctr"/>
          <a:lstStyle/>
          <a:p>
            <a:pPr algn="ctr" indent="0" marL="0">
              <a:buNone/>
            </a:pPr>
            <a:r>
              <a:rPr lang="en-US" sz="750" dirty="0">
                <a:solidFill>
                  <a:srgbClr val="5B6B84"/>
                </a:solidFill>
                <a:latin typeface="Arial" pitchFamily="34" charset="0"/>
                <a:ea typeface="Arial" pitchFamily="34" charset="-122"/>
                <a:cs typeface="Arial" pitchFamily="34" charset="-120"/>
              </a:rPr>
              <a:t>छोड़ें</a:t>
            </a:r>
            <a:endParaRPr lang="en-US" sz="750" dirty="0"/>
          </a:p>
        </p:txBody>
      </p:sp>
      <p:sp>
        <p:nvSpPr>
          <p:cNvPr id="29" name="Text 27"/>
          <p:cNvSpPr/>
          <p:nvPr/>
        </p:nvSpPr>
        <p:spPr>
          <a:xfrm>
            <a:off x="6473952" y="3529584"/>
            <a:ext cx="1645920" cy="182880"/>
          </a:xfrm>
          <a:prstGeom prst="rect">
            <a:avLst/>
          </a:prstGeom>
          <a:noFill/>
          <a:ln/>
        </p:spPr>
        <p:txBody>
          <a:bodyPr wrap="square" lIns="0" tIns="0" rIns="0" bIns="0" rtlCol="0" anchor="ctr"/>
          <a:lstStyle/>
          <a:p>
            <a:pPr indent="0" marL="0">
              <a:buNone/>
            </a:pPr>
            <a:r>
              <a:rPr lang="en-US" sz="750" i="1" dirty="0">
                <a:solidFill>
                  <a:srgbClr val="3D8BFF"/>
                </a:solidFill>
                <a:latin typeface="Arial" pitchFamily="34" charset="0"/>
                <a:ea typeface="Arial" pitchFamily="34" charset="-122"/>
                <a:cs typeface="Arial" pitchFamily="34" charset="-120"/>
              </a:rPr>
              <a:t>Why am I seeing this?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2</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THE PROBLEM</a:t>
            </a:r>
            <a:endParaRPr lang="en-US" sz="1050" dirty="0"/>
          </a:p>
        </p:txBody>
      </p:sp>
      <p:sp>
        <p:nvSpPr>
          <p:cNvPr id="4" name="Text 2"/>
          <p:cNvSpPr/>
          <p:nvPr/>
        </p:nvSpPr>
        <p:spPr>
          <a:xfrm>
            <a:off x="457200" y="457200"/>
            <a:ext cx="8229600" cy="41148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Trust is the adoption bottleneck — not demand.</a:t>
            </a:r>
            <a:endParaRPr lang="en-US" sz="2300" dirty="0"/>
          </a:p>
        </p:txBody>
      </p:sp>
      <p:sp>
        <p:nvSpPr>
          <p:cNvPr id="5" name="Text 3"/>
          <p:cNvSpPr/>
          <p:nvPr/>
        </p:nvSpPr>
        <p:spPr>
          <a:xfrm>
            <a:off x="457200" y="868680"/>
            <a:ext cx="8229600" cy="411480"/>
          </a:xfrm>
          <a:prstGeom prst="rect">
            <a:avLst/>
          </a:prstGeom>
          <a:noFill/>
          <a:ln/>
        </p:spPr>
        <p:txBody>
          <a:bodyPr wrap="square" lIns="0" tIns="0" rIns="0" bIns="0" rtlCol="0" anchor="ctr"/>
          <a:lstStyle/>
          <a:p>
            <a:pPr indent="0" marL="0">
              <a:buNone/>
            </a:pPr>
            <a:r>
              <a:rPr lang="en-US" sz="1150" dirty="0">
                <a:solidFill>
                  <a:srgbClr val="5B6B84"/>
                </a:solidFill>
                <a:latin typeface="Arial" pitchFamily="34" charset="0"/>
                <a:ea typeface="Arial" pitchFamily="34" charset="-122"/>
                <a:cs typeface="Arial" pitchFamily="34" charset="-120"/>
              </a:rPr>
              <a:t>85M registered YONO users — most never go past UPI and balance-check. The features that help users (and earn SBI its fee income) go undiscovered, or worse, distrusted.</a:t>
            </a:r>
            <a:endParaRPr lang="en-US" sz="1150" dirty="0"/>
          </a:p>
        </p:txBody>
      </p:sp>
      <p:sp>
        <p:nvSpPr>
          <p:cNvPr id="6" name="Shape 4"/>
          <p:cNvSpPr/>
          <p:nvPr/>
        </p:nvSpPr>
        <p:spPr>
          <a:xfrm>
            <a:off x="457200" y="1417320"/>
            <a:ext cx="2651760" cy="1078992"/>
          </a:xfrm>
          <a:prstGeom prst="roundRect">
            <a:avLst>
              <a:gd name="adj" fmla="val 593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7" name="Text 5"/>
          <p:cNvSpPr/>
          <p:nvPr/>
        </p:nvSpPr>
        <p:spPr>
          <a:xfrm>
            <a:off x="621792" y="1517904"/>
            <a:ext cx="2331720" cy="438912"/>
          </a:xfrm>
          <a:prstGeom prst="rect">
            <a:avLst/>
          </a:prstGeom>
          <a:noFill/>
          <a:ln/>
        </p:spPr>
        <p:txBody>
          <a:bodyPr wrap="square" lIns="0" tIns="0" rIns="0" bIns="0" rtlCol="0" anchor="ctr"/>
          <a:lstStyle/>
          <a:p>
            <a:pPr indent="0" marL="0">
              <a:buNone/>
            </a:pPr>
            <a:r>
              <a:rPr lang="en-US" sz="2700" b="1" dirty="0">
                <a:solidFill>
                  <a:srgbClr val="1755C4"/>
                </a:solidFill>
                <a:latin typeface="Arial" pitchFamily="34" charset="0"/>
                <a:ea typeface="Arial" pitchFamily="34" charset="-122"/>
                <a:cs typeface="Arial" pitchFamily="34" charset="-120"/>
              </a:rPr>
              <a:t>85M</a:t>
            </a:r>
            <a:endParaRPr lang="en-US" sz="2700" dirty="0"/>
          </a:p>
        </p:txBody>
      </p:sp>
      <p:sp>
        <p:nvSpPr>
          <p:cNvPr id="8" name="Text 6"/>
          <p:cNvSpPr/>
          <p:nvPr/>
        </p:nvSpPr>
        <p:spPr>
          <a:xfrm>
            <a:off x="621792" y="1956816"/>
            <a:ext cx="2377440" cy="475488"/>
          </a:xfrm>
          <a:prstGeom prst="rect">
            <a:avLst/>
          </a:prstGeom>
          <a:noFill/>
          <a:ln/>
        </p:spPr>
        <p:txBody>
          <a:bodyPr wrap="square" lIns="0" tIns="0" rIns="0" bIns="0" rtlCol="0" anchor="ctr"/>
          <a:lstStyle/>
          <a:p>
            <a:pPr indent="0" marL="0">
              <a:buNone/>
            </a:pPr>
            <a:r>
              <a:rPr lang="en-US" sz="880" dirty="0">
                <a:solidFill>
                  <a:srgbClr val="5B6B84"/>
                </a:solidFill>
                <a:latin typeface="Arial" pitchFamily="34" charset="0"/>
                <a:ea typeface="Arial" pitchFamily="34" charset="-122"/>
                <a:cs typeface="Arial" pitchFamily="34" charset="-120"/>
              </a:rPr>
              <a:t>registered YONO users — most touch only UPI + balance check</a:t>
            </a:r>
            <a:endParaRPr lang="en-US" sz="880" dirty="0"/>
          </a:p>
        </p:txBody>
      </p:sp>
      <p:sp>
        <p:nvSpPr>
          <p:cNvPr id="9" name="Shape 7"/>
          <p:cNvSpPr/>
          <p:nvPr/>
        </p:nvSpPr>
        <p:spPr>
          <a:xfrm>
            <a:off x="3246120" y="1417320"/>
            <a:ext cx="2651760" cy="1078992"/>
          </a:xfrm>
          <a:prstGeom prst="roundRect">
            <a:avLst>
              <a:gd name="adj" fmla="val 593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0" name="Text 8"/>
          <p:cNvSpPr/>
          <p:nvPr/>
        </p:nvSpPr>
        <p:spPr>
          <a:xfrm>
            <a:off x="3410712" y="1517904"/>
            <a:ext cx="2331720" cy="438912"/>
          </a:xfrm>
          <a:prstGeom prst="rect">
            <a:avLst/>
          </a:prstGeom>
          <a:noFill/>
          <a:ln/>
        </p:spPr>
        <p:txBody>
          <a:bodyPr wrap="square" lIns="0" tIns="0" rIns="0" bIns="0" rtlCol="0" anchor="ctr"/>
          <a:lstStyle/>
          <a:p>
            <a:pPr indent="0" marL="0">
              <a:buNone/>
            </a:pPr>
            <a:r>
              <a:rPr lang="en-US" sz="2700" b="1" dirty="0">
                <a:solidFill>
                  <a:srgbClr val="E8930C"/>
                </a:solidFill>
                <a:latin typeface="Arial" pitchFamily="34" charset="0"/>
                <a:ea typeface="Arial" pitchFamily="34" charset="-122"/>
                <a:cs typeface="Arial" pitchFamily="34" charset="-120"/>
              </a:rPr>
              <a:t>12,000+</a:t>
            </a:r>
            <a:endParaRPr lang="en-US" sz="2700" dirty="0"/>
          </a:p>
        </p:txBody>
      </p:sp>
      <p:sp>
        <p:nvSpPr>
          <p:cNvPr id="11" name="Text 9"/>
          <p:cNvSpPr/>
          <p:nvPr/>
        </p:nvSpPr>
        <p:spPr>
          <a:xfrm>
            <a:off x="3410712" y="1956816"/>
            <a:ext cx="2377440" cy="475488"/>
          </a:xfrm>
          <a:prstGeom prst="rect">
            <a:avLst/>
          </a:prstGeom>
          <a:noFill/>
          <a:ln/>
        </p:spPr>
        <p:txBody>
          <a:bodyPr wrap="square" lIns="0" tIns="0" rIns="0" bIns="0" rtlCol="0" anchor="ctr"/>
          <a:lstStyle/>
          <a:p>
            <a:pPr indent="0" marL="0">
              <a:buNone/>
            </a:pPr>
            <a:r>
              <a:rPr lang="en-US" sz="880" dirty="0">
                <a:solidFill>
                  <a:srgbClr val="5B6B84"/>
                </a:solidFill>
                <a:latin typeface="Arial" pitchFamily="34" charset="0"/>
                <a:ea typeface="Arial" pitchFamily="34" charset="-122"/>
                <a:cs typeface="Arial" pitchFamily="34" charset="-120"/>
              </a:rPr>
              <a:t>mis-selling complaints in one year — banks are the most-complained channel</a:t>
            </a:r>
            <a:endParaRPr lang="en-US" sz="880" dirty="0"/>
          </a:p>
        </p:txBody>
      </p:sp>
      <p:sp>
        <p:nvSpPr>
          <p:cNvPr id="12" name="Shape 10"/>
          <p:cNvSpPr/>
          <p:nvPr/>
        </p:nvSpPr>
        <p:spPr>
          <a:xfrm>
            <a:off x="6035040" y="1417320"/>
            <a:ext cx="2651760" cy="1078992"/>
          </a:xfrm>
          <a:prstGeom prst="roundRect">
            <a:avLst>
              <a:gd name="adj" fmla="val 593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3" name="Text 11"/>
          <p:cNvSpPr/>
          <p:nvPr/>
        </p:nvSpPr>
        <p:spPr>
          <a:xfrm>
            <a:off x="6199632" y="1517904"/>
            <a:ext cx="2331720" cy="438912"/>
          </a:xfrm>
          <a:prstGeom prst="rect">
            <a:avLst/>
          </a:prstGeom>
          <a:noFill/>
          <a:ln/>
        </p:spPr>
        <p:txBody>
          <a:bodyPr wrap="square" lIns="0" tIns="0" rIns="0" bIns="0" rtlCol="0" anchor="ctr"/>
          <a:lstStyle/>
          <a:p>
            <a:pPr indent="0" marL="0">
              <a:buNone/>
            </a:pPr>
            <a:r>
              <a:rPr lang="en-US" sz="2700" b="1" dirty="0">
                <a:solidFill>
                  <a:srgbClr val="0FB98A"/>
                </a:solidFill>
                <a:latin typeface="Arial" pitchFamily="34" charset="0"/>
                <a:ea typeface="Arial" pitchFamily="34" charset="-122"/>
                <a:cs typeface="Arial" pitchFamily="34" charset="-120"/>
              </a:rPr>
              <a:t>91%</a:t>
            </a:r>
            <a:endParaRPr lang="en-US" sz="2700" dirty="0"/>
          </a:p>
        </p:txBody>
      </p:sp>
      <p:sp>
        <p:nvSpPr>
          <p:cNvPr id="14" name="Text 12"/>
          <p:cNvSpPr/>
          <p:nvPr/>
        </p:nvSpPr>
        <p:spPr>
          <a:xfrm>
            <a:off x="6199632" y="1956816"/>
            <a:ext cx="2377440" cy="475488"/>
          </a:xfrm>
          <a:prstGeom prst="rect">
            <a:avLst/>
          </a:prstGeom>
          <a:noFill/>
          <a:ln/>
        </p:spPr>
        <p:txBody>
          <a:bodyPr wrap="square" lIns="0" tIns="0" rIns="0" bIns="0" rtlCol="0" anchor="ctr"/>
          <a:lstStyle/>
          <a:p>
            <a:pPr indent="0" marL="0">
              <a:buNone/>
            </a:pPr>
            <a:r>
              <a:rPr lang="en-US" sz="880" dirty="0">
                <a:solidFill>
                  <a:srgbClr val="5B6B84"/>
                </a:solidFill>
                <a:latin typeface="Arial" pitchFamily="34" charset="0"/>
                <a:ea typeface="Arial" pitchFamily="34" charset="-122"/>
                <a:cs typeface="Arial" pitchFamily="34" charset="-120"/>
              </a:rPr>
              <a:t>of Indian account-holders are OPEN to transaction-based offers</a:t>
            </a:r>
            <a:endParaRPr lang="en-US" sz="880" dirty="0"/>
          </a:p>
        </p:txBody>
      </p:sp>
      <p:sp>
        <p:nvSpPr>
          <p:cNvPr id="15" name="Shape 13"/>
          <p:cNvSpPr/>
          <p:nvPr/>
        </p:nvSpPr>
        <p:spPr>
          <a:xfrm>
            <a:off x="457200" y="2697480"/>
            <a:ext cx="4069080" cy="2011680"/>
          </a:xfrm>
          <a:prstGeom prst="roundRect">
            <a:avLst>
              <a:gd name="adj" fmla="val 3182"/>
            </a:avLst>
          </a:prstGeom>
          <a:solidFill>
            <a:srgbClr val="FDF3E0"/>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6" name="Shape 14"/>
          <p:cNvSpPr/>
          <p:nvPr/>
        </p:nvSpPr>
        <p:spPr>
          <a:xfrm>
            <a:off x="621792" y="2852928"/>
            <a:ext cx="274320" cy="274320"/>
          </a:xfrm>
          <a:prstGeom prst="ellipse">
            <a:avLst/>
          </a:prstGeom>
          <a:solidFill>
            <a:srgbClr val="E8930C"/>
          </a:solidFill>
          <a:ln/>
        </p:spPr>
      </p:sp>
      <p:sp>
        <p:nvSpPr>
          <p:cNvPr id="17" name="Text 15"/>
          <p:cNvSpPr/>
          <p:nvPr/>
        </p:nvSpPr>
        <p:spPr>
          <a:xfrm>
            <a:off x="576072" y="2834640"/>
            <a:ext cx="3657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8" name="Text 16"/>
          <p:cNvSpPr/>
          <p:nvPr/>
        </p:nvSpPr>
        <p:spPr>
          <a:xfrm>
            <a:off x="987552" y="2852928"/>
            <a:ext cx="3383280" cy="27432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Wound 1 — Insurance: the trust wound</a:t>
            </a:r>
            <a:endParaRPr lang="en-US" sz="1150" dirty="0"/>
          </a:p>
        </p:txBody>
      </p:sp>
      <p:sp>
        <p:nvSpPr>
          <p:cNvPr id="19" name="Text 17"/>
          <p:cNvSpPr/>
          <p:nvPr/>
        </p:nvSpPr>
        <p:spPr>
          <a:xfrm>
            <a:off x="658368" y="3218688"/>
            <a:ext cx="3703320" cy="1417320"/>
          </a:xfrm>
          <a:prstGeom prst="rect">
            <a:avLst/>
          </a:prstGeom>
          <a:noFill/>
          <a:ln/>
        </p:spPr>
        <p:txBody>
          <a:bodyPr wrap="square" lIns="0" tIns="0" rIns="0" bIns="0" rtlCol="0" anchor="t"/>
          <a:lstStyle/>
          <a:p>
            <a:pPr marL="127000" indent="-127000">
              <a:lnSpc>
                <a:spcPct val="104000"/>
              </a:lnSpc>
              <a:spcAft>
                <a:spcPts val="500"/>
              </a:spcAft>
              <a:buSzPct val="100000"/>
              <a:buChar char="•"/>
            </a:pPr>
            <a:r>
              <a:rPr lang="en-US" sz="950" dirty="0">
                <a:solidFill>
                  <a:srgbClr val="16243D"/>
                </a:solidFill>
                <a:latin typeface="Arial" pitchFamily="34" charset="0"/>
                <a:ea typeface="Arial" pitchFamily="34" charset="-122"/>
                <a:cs typeface="Arial" pitchFamily="34" charset="-120"/>
              </a:rPr>
              <a:t>Policies forced as a condition for accounts and lockers; unauthorised deductions</a:t>
            </a:r>
            <a:endParaRPr lang="en-US" sz="950" dirty="0"/>
          </a:p>
          <a:p>
            <a:pPr marL="127000" indent="-127000">
              <a:lnSpc>
                <a:spcPct val="104000"/>
              </a:lnSpc>
              <a:spcAft>
                <a:spcPts val="500"/>
              </a:spcAft>
              <a:buSzPct val="100000"/>
              <a:buChar char="•"/>
            </a:pPr>
            <a:r>
              <a:rPr lang="en-US" sz="950" dirty="0">
                <a:solidFill>
                  <a:srgbClr val="16243D"/>
                </a:solidFill>
                <a:latin typeface="Arial" pitchFamily="34" charset="0"/>
                <a:ea typeface="Arial" pitchFamily="34" charset="-122"/>
                <a:cs typeface="Arial" pitchFamily="34" charset="-120"/>
              </a:rPr>
              <a:t>Pensioners duped into SBI Life policies — national news</a:t>
            </a:r>
            <a:endParaRPr lang="en-US" sz="950" dirty="0"/>
          </a:p>
          <a:p>
            <a:pPr marL="127000" indent="-127000">
              <a:lnSpc>
                <a:spcPct val="104000"/>
              </a:lnSpc>
              <a:spcAft>
                <a:spcPts val="500"/>
              </a:spcAft>
              <a:buSzPct val="100000"/>
              <a:buChar char="•"/>
            </a:pPr>
            <a:r>
              <a:rPr lang="en-US" sz="950" dirty="0">
                <a:solidFill>
                  <a:srgbClr val="16243D"/>
                </a:solidFill>
                <a:latin typeface="Arial" pitchFamily="34" charset="0"/>
                <a:ea typeface="Arial" pitchFamily="34" charset="-122"/>
                <a:cs typeface="Arial" pitchFamily="34" charset="-120"/>
              </a:rPr>
              <a:t>SBI has issued internal directives to curb mis-selling: it is already under pressure to fix this</a:t>
            </a:r>
            <a:endParaRPr lang="en-US" sz="950" dirty="0"/>
          </a:p>
        </p:txBody>
      </p:sp>
      <p:sp>
        <p:nvSpPr>
          <p:cNvPr id="20" name="Shape 18"/>
          <p:cNvSpPr/>
          <p:nvPr/>
        </p:nvSpPr>
        <p:spPr>
          <a:xfrm>
            <a:off x="4617720" y="2697480"/>
            <a:ext cx="4069080" cy="2011680"/>
          </a:xfrm>
          <a:prstGeom prst="roundRect">
            <a:avLst>
              <a:gd name="adj" fmla="val 3182"/>
            </a:avLst>
          </a:prstGeom>
          <a:solidFill>
            <a:srgbClr val="EAF1FD"/>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21" name="Shape 19"/>
          <p:cNvSpPr/>
          <p:nvPr/>
        </p:nvSpPr>
        <p:spPr>
          <a:xfrm>
            <a:off x="4782312" y="2852928"/>
            <a:ext cx="274320" cy="274320"/>
          </a:xfrm>
          <a:prstGeom prst="ellipse">
            <a:avLst/>
          </a:prstGeom>
          <a:solidFill>
            <a:srgbClr val="1755C4"/>
          </a:solidFill>
          <a:ln/>
        </p:spPr>
      </p:sp>
      <p:sp>
        <p:nvSpPr>
          <p:cNvPr id="22" name="Text 20"/>
          <p:cNvSpPr/>
          <p:nvPr/>
        </p:nvSpPr>
        <p:spPr>
          <a:xfrm>
            <a:off x="4736592" y="2834640"/>
            <a:ext cx="365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3" name="Text 21"/>
          <p:cNvSpPr/>
          <p:nvPr/>
        </p:nvSpPr>
        <p:spPr>
          <a:xfrm>
            <a:off x="5148072" y="2852928"/>
            <a:ext cx="3429000" cy="27432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Wound 2 — Investing: the self-dealing wound</a:t>
            </a:r>
            <a:endParaRPr lang="en-US" sz="1150" dirty="0"/>
          </a:p>
        </p:txBody>
      </p:sp>
      <p:sp>
        <p:nvSpPr>
          <p:cNvPr id="24" name="Text 22"/>
          <p:cNvSpPr/>
          <p:nvPr/>
        </p:nvSpPr>
        <p:spPr>
          <a:xfrm>
            <a:off x="4818888" y="3218688"/>
            <a:ext cx="3703320" cy="1417320"/>
          </a:xfrm>
          <a:prstGeom prst="rect">
            <a:avLst/>
          </a:prstGeom>
          <a:noFill/>
          <a:ln/>
        </p:spPr>
        <p:txBody>
          <a:bodyPr wrap="square" lIns="0" tIns="0" rIns="0" bIns="0" rtlCol="0" anchor="t"/>
          <a:lstStyle/>
          <a:p>
            <a:pPr marL="127000" indent="-127000">
              <a:lnSpc>
                <a:spcPct val="104000"/>
              </a:lnSpc>
              <a:spcAft>
                <a:spcPts val="500"/>
              </a:spcAft>
              <a:buSzPct val="100000"/>
              <a:buChar char="•"/>
            </a:pPr>
            <a:r>
              <a:rPr lang="en-US" sz="950" dirty="0">
                <a:solidFill>
                  <a:srgbClr val="16243D"/>
                </a:solidFill>
                <a:latin typeface="Arial" pitchFamily="34" charset="0"/>
                <a:ea typeface="Arial" pitchFamily="34" charset="-122"/>
                <a:cs typeface="Arial" pitchFamily="34" charset="-120"/>
              </a:rPr>
              <a:t>YONO's shelf feels narrow and SBI-skewed — users leave for Groww / Zerodha</a:t>
            </a:r>
            <a:endParaRPr lang="en-US" sz="950" dirty="0"/>
          </a:p>
          <a:p>
            <a:pPr marL="127000" indent="-127000">
              <a:lnSpc>
                <a:spcPct val="104000"/>
              </a:lnSpc>
              <a:spcAft>
                <a:spcPts val="500"/>
              </a:spcAft>
              <a:buSzPct val="100000"/>
              <a:buChar char="•"/>
            </a:pPr>
            <a:r>
              <a:rPr lang="en-US" sz="950" dirty="0">
                <a:solidFill>
                  <a:srgbClr val="16243D"/>
                </a:solidFill>
                <a:latin typeface="Arial" pitchFamily="34" charset="0"/>
                <a:ea typeface="Arial" pitchFamily="34" charset="-122"/>
                <a:cs typeface="Arial" pitchFamily="34" charset="-120"/>
              </a:rPr>
              <a:t>Even the ₹250 JanNivesh SIP ships simultaneously on Groww, Paytm and Zerodha</a:t>
            </a:r>
            <a:endParaRPr lang="en-US" sz="950" dirty="0"/>
          </a:p>
          <a:p>
            <a:pPr marL="127000" indent="-127000">
              <a:lnSpc>
                <a:spcPct val="104000"/>
              </a:lnSpc>
              <a:spcAft>
                <a:spcPts val="500"/>
              </a:spcAft>
              <a:buSzPct val="100000"/>
              <a:buChar char="•"/>
            </a:pPr>
            <a:r>
              <a:rPr lang="en-US" sz="950" dirty="0">
                <a:solidFill>
                  <a:srgbClr val="16243D"/>
                </a:solidFill>
                <a:latin typeface="Arial" pitchFamily="34" charset="0"/>
                <a:ea typeface="Arial" pitchFamily="34" charset="-122"/>
                <a:cs typeface="Arial" pitchFamily="34" charset="-120"/>
              </a:rPr>
              <a:t>No exclusivity moat: YONO competes on experience — and loses</a:t>
            </a:r>
            <a:endParaRPr lang="en-US" sz="950" dirty="0"/>
          </a:p>
        </p:txBody>
      </p:sp>
      <p:sp>
        <p:nvSpPr>
          <p:cNvPr id="25" name="Text 23"/>
          <p:cNvSpPr/>
          <p:nvPr/>
        </p:nvSpPr>
        <p:spPr>
          <a:xfrm>
            <a:off x="457200" y="4873752"/>
            <a:ext cx="5577840" cy="201168"/>
          </a:xfrm>
          <a:prstGeom prst="rect">
            <a:avLst/>
          </a:prstGeom>
          <a:noFill/>
          <a:ln/>
        </p:spPr>
        <p:txBody>
          <a:bodyPr wrap="square" lIns="0" tIns="0" rIns="0" bIns="0" rtlCol="0" anchor="ctr"/>
          <a:lstStyle/>
          <a:p>
            <a:pPr indent="0" marL="0">
              <a:buNone/>
            </a:pPr>
            <a:r>
              <a:rPr lang="en-US" sz="800" dirty="0">
                <a:solidFill>
                  <a:srgbClr val="9AA7BC"/>
                </a:solidFill>
                <a:latin typeface="Arial" pitchFamily="34" charset="0"/>
                <a:ea typeface="Arial" pitchFamily="34" charset="-122"/>
                <a:cs typeface="Arial" pitchFamily="34" charset="-120"/>
              </a:rPr>
              <a:t>Sources (paraphrased): Business Standard · MatrixBCG · thekanal.in · oneinsure · The Wire · Zopper/ITIJ — see appendix</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3</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THE REFRAME</a:t>
            </a:r>
            <a:endParaRPr lang="en-US" sz="1050" dirty="0"/>
          </a:p>
        </p:txBody>
      </p:sp>
      <p:sp>
        <p:nvSpPr>
          <p:cNvPr id="4" name="Text 2"/>
          <p:cNvSpPr/>
          <p:nvPr/>
        </p:nvSpPr>
        <p:spPr>
          <a:xfrm>
            <a:off x="457200" y="457200"/>
            <a:ext cx="8229600" cy="45720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Not cross-sell. Mis-selling remediation — disguised as an adoption engine.</a:t>
            </a:r>
            <a:endParaRPr lang="en-US" sz="2300" dirty="0"/>
          </a:p>
        </p:txBody>
      </p:sp>
      <p:sp>
        <p:nvSpPr>
          <p:cNvPr id="5" name="Shape 3"/>
          <p:cNvSpPr/>
          <p:nvPr/>
        </p:nvSpPr>
        <p:spPr>
          <a:xfrm>
            <a:off x="457200" y="1234440"/>
            <a:ext cx="3611880" cy="2514600"/>
          </a:xfrm>
          <a:prstGeom prst="roundRect">
            <a:avLst>
              <a:gd name="adj" fmla="val 2545"/>
            </a:avLst>
          </a:prstGeom>
          <a:solidFill>
            <a:srgbClr val="FDF3E0"/>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6" name="Text 4"/>
          <p:cNvSpPr/>
          <p:nvPr/>
        </p:nvSpPr>
        <p:spPr>
          <a:xfrm>
            <a:off x="658368" y="1389888"/>
            <a:ext cx="3200400" cy="274320"/>
          </a:xfrm>
          <a:prstGeom prst="rect">
            <a:avLst/>
          </a:prstGeom>
          <a:noFill/>
          <a:ln/>
        </p:spPr>
        <p:txBody>
          <a:bodyPr wrap="square" lIns="0" tIns="0" rIns="0" bIns="0" rtlCol="0" anchor="ctr"/>
          <a:lstStyle/>
          <a:p>
            <a:pPr indent="0" marL="0">
              <a:buNone/>
            </a:pPr>
            <a:r>
              <a:rPr lang="en-US" sz="1300" b="1" dirty="0">
                <a:solidFill>
                  <a:srgbClr val="E8930C"/>
                </a:solidFill>
                <a:latin typeface="Arial" pitchFamily="34" charset="0"/>
                <a:ea typeface="Arial" pitchFamily="34" charset="-122"/>
                <a:cs typeface="Arial" pitchFamily="34" charset="-120"/>
              </a:rPr>
              <a:t>The channel today</a:t>
            </a:r>
            <a:endParaRPr lang="en-US" sz="1300" dirty="0"/>
          </a:p>
        </p:txBody>
      </p:sp>
      <p:sp>
        <p:nvSpPr>
          <p:cNvPr id="7" name="Text 5"/>
          <p:cNvSpPr/>
          <p:nvPr/>
        </p:nvSpPr>
        <p:spPr>
          <a:xfrm>
            <a:off x="658368" y="1755648"/>
            <a:ext cx="3246120" cy="1828800"/>
          </a:xfrm>
          <a:prstGeom prst="rect">
            <a:avLst/>
          </a:prstGeom>
          <a:noFill/>
          <a:ln/>
        </p:spPr>
        <p:txBody>
          <a:bodyPr wrap="square" lIns="0" tIns="0" rIns="0" bIns="0" rtlCol="0" anchor="t"/>
          <a:lstStyle/>
          <a:p>
            <a:pPr marL="127000" indent="-127000">
              <a:lnSpc>
                <a:spcPct val="104000"/>
              </a:lnSpc>
              <a:spcAft>
                <a:spcPts val="800"/>
              </a:spcAft>
              <a:buSzPct val="100000"/>
              <a:buChar char="•"/>
            </a:pPr>
            <a:r>
              <a:rPr lang="en-US" sz="1050" dirty="0">
                <a:solidFill>
                  <a:srgbClr val="16243D"/>
                </a:solidFill>
                <a:latin typeface="Arial" pitchFamily="34" charset="0"/>
                <a:ea typeface="Arial" pitchFamily="34" charset="-122"/>
                <a:cs typeface="Arial" pitchFamily="34" charset="-120"/>
              </a:rPr>
              <a:t>Coercive, target-driven human sales machine</a:t>
            </a:r>
            <a:endParaRPr lang="en-US" sz="1050" dirty="0"/>
          </a:p>
          <a:p>
            <a:pPr marL="127000" indent="-127000">
              <a:lnSpc>
                <a:spcPct val="104000"/>
              </a:lnSpc>
              <a:spcAft>
                <a:spcPts val="800"/>
              </a:spcAft>
              <a:buSzPct val="100000"/>
              <a:buChar char="•"/>
            </a:pPr>
            <a:r>
              <a:rPr lang="en-US" sz="1050" dirty="0">
                <a:solidFill>
                  <a:srgbClr val="16243D"/>
                </a:solidFill>
                <a:latin typeface="Arial" pitchFamily="34" charset="0"/>
                <a:ea typeface="Arial" pitchFamily="34" charset="-122"/>
                <a:cs typeface="Arial" pitchFamily="34" charset="-120"/>
              </a:rPr>
              <a:t>Opaque math — charges and exclusions hidden</a:t>
            </a:r>
            <a:endParaRPr lang="en-US" sz="1050" dirty="0"/>
          </a:p>
          <a:p>
            <a:pPr marL="127000" indent="-127000">
              <a:lnSpc>
                <a:spcPct val="104000"/>
              </a:lnSpc>
              <a:spcAft>
                <a:spcPts val="800"/>
              </a:spcAft>
              <a:buSzPct val="100000"/>
              <a:buChar char="•"/>
            </a:pPr>
            <a:r>
              <a:rPr lang="en-US" sz="1050" dirty="0">
                <a:solidFill>
                  <a:srgbClr val="16243D"/>
                </a:solidFill>
                <a:latin typeface="Arial" pitchFamily="34" charset="0"/>
                <a:ea typeface="Arial" pitchFamily="34" charset="-122"/>
                <a:cs typeface="Arial" pitchFamily="34" charset="-120"/>
              </a:rPr>
              <a:t>ULIPs pushed onto buyers they never suited</a:t>
            </a:r>
            <a:endParaRPr lang="en-US" sz="1050" dirty="0"/>
          </a:p>
          <a:p>
            <a:pPr marL="127000" indent="-127000">
              <a:lnSpc>
                <a:spcPct val="104000"/>
              </a:lnSpc>
              <a:spcAft>
                <a:spcPts val="800"/>
              </a:spcAft>
              <a:buSzPct val="100000"/>
              <a:buChar char="•"/>
            </a:pPr>
            <a:r>
              <a:rPr lang="en-US" sz="1050" dirty="0">
                <a:solidFill>
                  <a:srgbClr val="16243D"/>
                </a:solidFill>
                <a:latin typeface="Arial" pitchFamily="34" charset="0"/>
                <a:ea typeface="Arial" pitchFamily="34" charset="-122"/>
                <a:cs typeface="Arial" pitchFamily="34" charset="-120"/>
              </a:rPr>
              <a:t>Customers have learned to fear the pitch</a:t>
            </a:r>
            <a:endParaRPr lang="en-US" sz="1050" dirty="0"/>
          </a:p>
        </p:txBody>
      </p:sp>
      <p:sp>
        <p:nvSpPr>
          <p:cNvPr id="8" name="Shape 6"/>
          <p:cNvSpPr/>
          <p:nvPr/>
        </p:nvSpPr>
        <p:spPr>
          <a:xfrm>
            <a:off x="4160520" y="2212848"/>
            <a:ext cx="822960" cy="548640"/>
          </a:xfrm>
          <a:prstGeom prst="rightArrow">
            <a:avLst/>
          </a:prstGeom>
          <a:solidFill>
            <a:srgbClr val="1755C4"/>
          </a:solidFill>
          <a:ln/>
        </p:spPr>
      </p:sp>
      <p:sp>
        <p:nvSpPr>
          <p:cNvPr id="9" name="Shape 7"/>
          <p:cNvSpPr/>
          <p:nvPr/>
        </p:nvSpPr>
        <p:spPr>
          <a:xfrm>
            <a:off x="5074920" y="1234440"/>
            <a:ext cx="3611880" cy="2514600"/>
          </a:xfrm>
          <a:prstGeom prst="roundRect">
            <a:avLst>
              <a:gd name="adj" fmla="val 2545"/>
            </a:avLst>
          </a:prstGeom>
          <a:solidFill>
            <a:srgbClr val="E7F8F2"/>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0" name="Text 8"/>
          <p:cNvSpPr/>
          <p:nvPr/>
        </p:nvSpPr>
        <p:spPr>
          <a:xfrm>
            <a:off x="5276088" y="1389888"/>
            <a:ext cx="3200400" cy="274320"/>
          </a:xfrm>
          <a:prstGeom prst="rect">
            <a:avLst/>
          </a:prstGeom>
          <a:noFill/>
          <a:ln/>
        </p:spPr>
        <p:txBody>
          <a:bodyPr wrap="square" lIns="0" tIns="0" rIns="0" bIns="0" rtlCol="0" anchor="ctr"/>
          <a:lstStyle/>
          <a:p>
            <a:pPr indent="0" marL="0">
              <a:buNone/>
            </a:pPr>
            <a:r>
              <a:rPr lang="en-US" sz="1300" b="1" dirty="0">
                <a:solidFill>
                  <a:srgbClr val="0FB98A"/>
                </a:solidFill>
                <a:latin typeface="Arial" pitchFamily="34" charset="0"/>
                <a:ea typeface="Arial" pitchFamily="34" charset="-122"/>
                <a:cs typeface="Arial" pitchFamily="34" charset="-120"/>
              </a:rPr>
              <a:t>Diya's channel</a:t>
            </a:r>
            <a:endParaRPr lang="en-US" sz="1300" dirty="0"/>
          </a:p>
        </p:txBody>
      </p:sp>
      <p:sp>
        <p:nvSpPr>
          <p:cNvPr id="11" name="Text 9"/>
          <p:cNvSpPr/>
          <p:nvPr/>
        </p:nvSpPr>
        <p:spPr>
          <a:xfrm>
            <a:off x="5276088" y="1755648"/>
            <a:ext cx="3246120" cy="1828800"/>
          </a:xfrm>
          <a:prstGeom prst="rect">
            <a:avLst/>
          </a:prstGeom>
          <a:noFill/>
          <a:ln/>
        </p:spPr>
        <p:txBody>
          <a:bodyPr wrap="square" lIns="0" tIns="0" rIns="0" bIns="0" rtlCol="0" anchor="t"/>
          <a:lstStyle/>
          <a:p>
            <a:pPr marL="127000" indent="-127000">
              <a:lnSpc>
                <a:spcPct val="104000"/>
              </a:lnSpc>
              <a:spcAft>
                <a:spcPts val="700"/>
              </a:spcAft>
              <a:buSzPct val="100000"/>
              <a:buChar char="•"/>
            </a:pPr>
            <a:r>
              <a:rPr lang="en-US" sz="1050" dirty="0">
                <a:solidFill>
                  <a:srgbClr val="16243D"/>
                </a:solidFill>
                <a:latin typeface="Arial" pitchFamily="34" charset="0"/>
                <a:ea typeface="Arial" pitchFamily="34" charset="-122"/>
                <a:cs typeface="Arial" pitchFamily="34" charset="-120"/>
              </a:rPr>
              <a:t>Consent-first and revocable — opt-in even to analyse</a:t>
            </a:r>
            <a:endParaRPr lang="en-US" sz="1050" dirty="0"/>
          </a:p>
          <a:p>
            <a:pPr marL="127000" indent="-127000">
              <a:lnSpc>
                <a:spcPct val="104000"/>
              </a:lnSpc>
              <a:spcAft>
                <a:spcPts val="700"/>
              </a:spcAft>
              <a:buSzPct val="100000"/>
              <a:buChar char="•"/>
            </a:pPr>
            <a:r>
              <a:rPr lang="en-US" sz="1050" dirty="0">
                <a:solidFill>
                  <a:srgbClr val="16243D"/>
                </a:solidFill>
                <a:latin typeface="Arial" pitchFamily="34" charset="0"/>
                <a:ea typeface="Arial" pitchFamily="34" charset="-122"/>
                <a:cs typeface="Arial" pitchFamily="34" charset="-120"/>
              </a:rPr>
              <a:t>Suitability-filtered: ULIPs hard-blocked, always</a:t>
            </a:r>
            <a:endParaRPr lang="en-US" sz="1050" dirty="0"/>
          </a:p>
          <a:p>
            <a:pPr marL="127000" indent="-127000">
              <a:lnSpc>
                <a:spcPct val="104000"/>
              </a:lnSpc>
              <a:spcAft>
                <a:spcPts val="700"/>
              </a:spcAft>
              <a:buSzPct val="100000"/>
              <a:buChar char="•"/>
            </a:pPr>
            <a:r>
              <a:rPr lang="en-US" sz="1050" dirty="0">
                <a:solidFill>
                  <a:srgbClr val="16243D"/>
                </a:solidFill>
                <a:latin typeface="Arial" pitchFamily="34" charset="0"/>
                <a:ea typeface="Arial" pitchFamily="34" charset="-122"/>
                <a:cs typeface="Arial" pitchFamily="34" charset="-120"/>
              </a:rPr>
              <a:t>Explainable math incl. charges — and an honest “Do nothing” option in every comparison</a:t>
            </a:r>
            <a:endParaRPr lang="en-US" sz="1050" dirty="0"/>
          </a:p>
          <a:p>
            <a:pPr marL="127000" indent="-127000">
              <a:lnSpc>
                <a:spcPct val="104000"/>
              </a:lnSpc>
              <a:spcAft>
                <a:spcPts val="700"/>
              </a:spcAft>
              <a:buSzPct val="100000"/>
              <a:buChar char="•"/>
            </a:pPr>
            <a:r>
              <a:rPr lang="en-US" sz="1050" dirty="0">
                <a:solidFill>
                  <a:srgbClr val="16243D"/>
                </a:solidFill>
                <a:latin typeface="Arial" pitchFamily="34" charset="0"/>
                <a:ea typeface="Arial" pitchFamily="34" charset="-122"/>
                <a:cs typeface="Arial" pitchFamily="34" charset="-120"/>
              </a:rPr>
              <a:t>Skip + “Talk to a human advisor” on every card</a:t>
            </a:r>
            <a:endParaRPr lang="en-US" sz="1050" dirty="0"/>
          </a:p>
        </p:txBody>
      </p:sp>
      <p:sp>
        <p:nvSpPr>
          <p:cNvPr id="12" name="Shape 10"/>
          <p:cNvSpPr/>
          <p:nvPr/>
        </p:nvSpPr>
        <p:spPr>
          <a:xfrm>
            <a:off x="457200" y="3931920"/>
            <a:ext cx="8229600" cy="777240"/>
          </a:xfrm>
          <a:prstGeom prst="roundRect">
            <a:avLst>
              <a:gd name="adj" fmla="val 8235"/>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3" name="Text 11"/>
          <p:cNvSpPr/>
          <p:nvPr/>
        </p:nvSpPr>
        <p:spPr>
          <a:xfrm>
            <a:off x="685800" y="3931920"/>
            <a:ext cx="7772400" cy="777240"/>
          </a:xfrm>
          <a:prstGeom prst="rect">
            <a:avLst/>
          </a:prstGeom>
          <a:noFill/>
          <a:ln/>
        </p:spPr>
        <p:txBody>
          <a:bodyPr wrap="square" lIns="0" tIns="0" rIns="0" bIns="0" rtlCol="0" anchor="ctr"/>
          <a:lstStyle/>
          <a:p>
            <a:pPr indent="0" marL="0">
              <a:buNone/>
            </a:pPr>
            <a:r>
              <a:rPr lang="en-US" sz="1200" b="1" dirty="0">
                <a:solidFill>
                  <a:srgbClr val="0B1F3A"/>
                </a:solidFill>
                <a:latin typeface="Arial" pitchFamily="34" charset="0"/>
                <a:ea typeface="Arial" pitchFamily="34" charset="-122"/>
                <a:cs typeface="Arial" pitchFamily="34" charset="-120"/>
              </a:rPr>
              <a:t>Honesty is the moat. </a:t>
            </a:r>
            <a:pPr indent="0" marL="0">
              <a:buNone/>
            </a:pPr>
            <a:r>
              <a:rPr lang="en-US" sz="1200" dirty="0">
                <a:solidFill>
                  <a:srgbClr val="16243D"/>
                </a:solidFill>
                <a:latin typeface="Arial" pitchFamily="34" charset="0"/>
                <a:ea typeface="Arial" pitchFamily="34" charset="-122"/>
                <a:cs typeface="Arial" pitchFamily="34" charset="-120"/>
              </a:rPr>
              <a:t>And with the </a:t>
            </a:r>
            <a:pPr indent="0" marL="0">
              <a:buNone/>
            </a:pPr>
            <a:r>
              <a:rPr lang="en-US" sz="1200" b="1" dirty="0">
                <a:solidFill>
                  <a:srgbClr val="E8930C"/>
                </a:solidFill>
                <a:latin typeface="Arial" pitchFamily="34" charset="0"/>
                <a:ea typeface="Arial" pitchFamily="34" charset="-122"/>
                <a:cs typeface="Arial" pitchFamily="34" charset="-120"/>
              </a:rPr>
              <a:t>reverse mis-selling detector</a:t>
            </a:r>
            <a:pPr indent="0" marL="0">
              <a:buNone/>
            </a:pPr>
            <a:r>
              <a:rPr lang="en-US" sz="1200" dirty="0">
                <a:solidFill>
                  <a:srgbClr val="16243D"/>
                </a:solidFill>
                <a:latin typeface="Arial" pitchFamily="34" charset="0"/>
                <a:ea typeface="Arial" pitchFamily="34" charset="-122"/>
                <a:cs typeface="Arial" pitchFamily="34" charset="-120"/>
              </a:rPr>
              <a:t>, remediation is literal — Diya audits the products users were already sold. SBI is under regulatory pressure to deliver exactly this.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4</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WHAT DIYA IS</a:t>
            </a:r>
            <a:endParaRPr lang="en-US" sz="1050" dirty="0"/>
          </a:p>
        </p:txBody>
      </p:sp>
      <p:sp>
        <p:nvSpPr>
          <p:cNvPr id="4" name="Text 2"/>
          <p:cNvSpPr/>
          <p:nvPr/>
        </p:nvSpPr>
        <p:spPr>
          <a:xfrm>
            <a:off x="457200" y="457200"/>
            <a:ext cx="8229600" cy="45720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An autonomous agent decides whether, what and when — and can choose to do nothing.</a:t>
            </a:r>
            <a:endParaRPr lang="en-US" sz="2300" dirty="0"/>
          </a:p>
        </p:txBody>
      </p:sp>
      <p:sp>
        <p:nvSpPr>
          <p:cNvPr id="5" name="Shape 3"/>
          <p:cNvSpPr/>
          <p:nvPr/>
        </p:nvSpPr>
        <p:spPr>
          <a:xfrm>
            <a:off x="457200" y="1280160"/>
            <a:ext cx="1938528" cy="2377440"/>
          </a:xfrm>
          <a:prstGeom prst="roundRect">
            <a:avLst>
              <a:gd name="adj" fmla="val 330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6" name="Shape 4"/>
          <p:cNvSpPr/>
          <p:nvPr/>
        </p:nvSpPr>
        <p:spPr>
          <a:xfrm>
            <a:off x="603504" y="1426464"/>
            <a:ext cx="292608" cy="292608"/>
          </a:xfrm>
          <a:prstGeom prst="ellipse">
            <a:avLst/>
          </a:prstGeom>
          <a:solidFill>
            <a:srgbClr val="3D8BFF"/>
          </a:solidFill>
          <a:ln/>
        </p:spPr>
      </p:sp>
      <p:sp>
        <p:nvSpPr>
          <p:cNvPr id="7" name="Text 5"/>
          <p:cNvSpPr/>
          <p:nvPr/>
        </p:nvSpPr>
        <p:spPr>
          <a:xfrm>
            <a:off x="557784" y="1408176"/>
            <a:ext cx="384048"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987552" y="1426464"/>
            <a:ext cx="1325880" cy="292608"/>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PERCEIVE</a:t>
            </a:r>
            <a:endParaRPr lang="en-US" sz="1250" dirty="0"/>
          </a:p>
        </p:txBody>
      </p:sp>
      <p:sp>
        <p:nvSpPr>
          <p:cNvPr id="9" name="Text 7"/>
          <p:cNvSpPr/>
          <p:nvPr/>
        </p:nvSpPr>
        <p:spPr>
          <a:xfrm>
            <a:off x="621792" y="1828800"/>
            <a:ext cx="1645920" cy="1737360"/>
          </a:xfrm>
          <a:prstGeom prst="rect">
            <a:avLst/>
          </a:prstGeom>
          <a:noFill/>
          <a:ln/>
        </p:spPr>
        <p:txBody>
          <a:bodyPr wrap="square" lIns="0" tIns="0" rIns="0" bIns="0" rtlCol="0" anchor="t"/>
          <a:lstStyle/>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Consented transaction stream</a:t>
            </a:r>
            <a:endParaRPr lang="en-US" sz="880" dirty="0"/>
          </a:p>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Trigger engine spots the moment: idle cash, premium leak, salary jump, feature blind spot</a:t>
            </a:r>
            <a:endParaRPr lang="en-US" sz="880" dirty="0"/>
          </a:p>
        </p:txBody>
      </p:sp>
      <p:sp>
        <p:nvSpPr>
          <p:cNvPr id="10" name="Shape 8"/>
          <p:cNvSpPr/>
          <p:nvPr/>
        </p:nvSpPr>
        <p:spPr>
          <a:xfrm>
            <a:off x="2404872" y="2304288"/>
            <a:ext cx="219456" cy="274320"/>
          </a:xfrm>
          <a:prstGeom prst="rightArrow">
            <a:avLst/>
          </a:prstGeom>
          <a:solidFill>
            <a:srgbClr val="B9C6DA"/>
          </a:solidFill>
          <a:ln/>
        </p:spPr>
      </p:sp>
      <p:sp>
        <p:nvSpPr>
          <p:cNvPr id="11" name="Shape 9"/>
          <p:cNvSpPr/>
          <p:nvPr/>
        </p:nvSpPr>
        <p:spPr>
          <a:xfrm>
            <a:off x="2615184" y="1280160"/>
            <a:ext cx="1938528" cy="2377440"/>
          </a:xfrm>
          <a:prstGeom prst="roundRect">
            <a:avLst>
              <a:gd name="adj" fmla="val 330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2" name="Shape 10"/>
          <p:cNvSpPr/>
          <p:nvPr/>
        </p:nvSpPr>
        <p:spPr>
          <a:xfrm>
            <a:off x="2761488" y="1426464"/>
            <a:ext cx="292608" cy="292608"/>
          </a:xfrm>
          <a:prstGeom prst="ellipse">
            <a:avLst/>
          </a:prstGeom>
          <a:solidFill>
            <a:srgbClr val="1755C4"/>
          </a:solidFill>
          <a:ln/>
        </p:spPr>
      </p:sp>
      <p:sp>
        <p:nvSpPr>
          <p:cNvPr id="13" name="Text 11"/>
          <p:cNvSpPr/>
          <p:nvPr/>
        </p:nvSpPr>
        <p:spPr>
          <a:xfrm>
            <a:off x="2715768" y="1408176"/>
            <a:ext cx="384048"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145536" y="1426464"/>
            <a:ext cx="1325880" cy="292608"/>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REASON</a:t>
            </a:r>
            <a:endParaRPr lang="en-US" sz="1250" dirty="0"/>
          </a:p>
        </p:txBody>
      </p:sp>
      <p:sp>
        <p:nvSpPr>
          <p:cNvPr id="15" name="Text 13"/>
          <p:cNvSpPr/>
          <p:nvPr/>
        </p:nvSpPr>
        <p:spPr>
          <a:xfrm>
            <a:off x="2779776" y="1828800"/>
            <a:ext cx="1645920" cy="1737360"/>
          </a:xfrm>
          <a:prstGeom prst="rect">
            <a:avLst/>
          </a:prstGeom>
          <a:noFill/>
          <a:ln/>
        </p:spPr>
        <p:txBody>
          <a:bodyPr wrap="square" lIns="0" tIns="0" rIns="0" bIns="0" rtlCol="0" anchor="t"/>
          <a:lstStyle/>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Claude tool-calling loop: query_rag · check_suitability · build_comparison</a:t>
            </a:r>
            <a:endParaRPr lang="en-US" sz="880" dirty="0"/>
          </a:p>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Devil's-advocate agent argues AGAINST the nudge before it ships</a:t>
            </a:r>
            <a:endParaRPr lang="en-US" sz="880" dirty="0"/>
          </a:p>
        </p:txBody>
      </p:sp>
      <p:sp>
        <p:nvSpPr>
          <p:cNvPr id="16" name="Shape 14"/>
          <p:cNvSpPr/>
          <p:nvPr/>
        </p:nvSpPr>
        <p:spPr>
          <a:xfrm>
            <a:off x="4562856" y="2304288"/>
            <a:ext cx="219456" cy="274320"/>
          </a:xfrm>
          <a:prstGeom prst="rightArrow">
            <a:avLst/>
          </a:prstGeom>
          <a:solidFill>
            <a:srgbClr val="B9C6DA"/>
          </a:solidFill>
          <a:ln/>
        </p:spPr>
      </p:sp>
      <p:sp>
        <p:nvSpPr>
          <p:cNvPr id="17" name="Shape 15"/>
          <p:cNvSpPr/>
          <p:nvPr/>
        </p:nvSpPr>
        <p:spPr>
          <a:xfrm>
            <a:off x="4773168" y="1280160"/>
            <a:ext cx="1938528" cy="2377440"/>
          </a:xfrm>
          <a:prstGeom prst="roundRect">
            <a:avLst>
              <a:gd name="adj" fmla="val 330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8" name="Shape 16"/>
          <p:cNvSpPr/>
          <p:nvPr/>
        </p:nvSpPr>
        <p:spPr>
          <a:xfrm>
            <a:off x="4919472" y="1426464"/>
            <a:ext cx="292608" cy="292608"/>
          </a:xfrm>
          <a:prstGeom prst="ellipse">
            <a:avLst/>
          </a:prstGeom>
          <a:solidFill>
            <a:srgbClr val="0FB98A"/>
          </a:solidFill>
          <a:ln/>
        </p:spPr>
      </p:sp>
      <p:sp>
        <p:nvSpPr>
          <p:cNvPr id="19" name="Text 17"/>
          <p:cNvSpPr/>
          <p:nvPr/>
        </p:nvSpPr>
        <p:spPr>
          <a:xfrm>
            <a:off x="4873752" y="1408176"/>
            <a:ext cx="384048"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p:nvPr/>
        </p:nvSpPr>
        <p:spPr>
          <a:xfrm>
            <a:off x="5303520" y="1426464"/>
            <a:ext cx="1325880" cy="292608"/>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ACT</a:t>
            </a:r>
            <a:endParaRPr lang="en-US" sz="1250" dirty="0"/>
          </a:p>
        </p:txBody>
      </p:sp>
      <p:sp>
        <p:nvSpPr>
          <p:cNvPr id="21" name="Text 19"/>
          <p:cNvSpPr/>
          <p:nvPr/>
        </p:nvSpPr>
        <p:spPr>
          <a:xfrm>
            <a:off x="4937760" y="1828800"/>
            <a:ext cx="1645920" cy="1737360"/>
          </a:xfrm>
          <a:prstGeom prst="rect">
            <a:avLst/>
          </a:prstGeom>
          <a:noFill/>
          <a:ln/>
        </p:spPr>
        <p:txBody>
          <a:bodyPr wrap="square" lIns="0" tIns="0" rIns="0" bIns="0" rtlCol="0" anchor="t"/>
          <a:lstStyle/>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Vernacular nudge + explainability card + guided walkthrough</a:t>
            </a:r>
            <a:endParaRPr lang="en-US" sz="880" dirty="0"/>
          </a:p>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 or suppress. Max 4 interruptions per user per month</a:t>
            </a:r>
            <a:endParaRPr lang="en-US" sz="880" dirty="0"/>
          </a:p>
        </p:txBody>
      </p:sp>
      <p:sp>
        <p:nvSpPr>
          <p:cNvPr id="22" name="Shape 20"/>
          <p:cNvSpPr/>
          <p:nvPr/>
        </p:nvSpPr>
        <p:spPr>
          <a:xfrm>
            <a:off x="6720840" y="2304288"/>
            <a:ext cx="219456" cy="274320"/>
          </a:xfrm>
          <a:prstGeom prst="rightArrow">
            <a:avLst/>
          </a:prstGeom>
          <a:solidFill>
            <a:srgbClr val="B9C6DA"/>
          </a:solidFill>
          <a:ln/>
        </p:spPr>
      </p:sp>
      <p:sp>
        <p:nvSpPr>
          <p:cNvPr id="23" name="Shape 21"/>
          <p:cNvSpPr/>
          <p:nvPr/>
        </p:nvSpPr>
        <p:spPr>
          <a:xfrm>
            <a:off x="6931152" y="1280160"/>
            <a:ext cx="1938528" cy="2377440"/>
          </a:xfrm>
          <a:prstGeom prst="roundRect">
            <a:avLst>
              <a:gd name="adj" fmla="val 330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24" name="Shape 22"/>
          <p:cNvSpPr/>
          <p:nvPr/>
        </p:nvSpPr>
        <p:spPr>
          <a:xfrm>
            <a:off x="7077456" y="1426464"/>
            <a:ext cx="292608" cy="292608"/>
          </a:xfrm>
          <a:prstGeom prst="ellipse">
            <a:avLst/>
          </a:prstGeom>
          <a:solidFill>
            <a:srgbClr val="E8930C"/>
          </a:solidFill>
          <a:ln/>
        </p:spPr>
      </p:sp>
      <p:sp>
        <p:nvSpPr>
          <p:cNvPr id="25" name="Text 23"/>
          <p:cNvSpPr/>
          <p:nvPr/>
        </p:nvSpPr>
        <p:spPr>
          <a:xfrm>
            <a:off x="7031736" y="1408176"/>
            <a:ext cx="384048"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7461504" y="1426464"/>
            <a:ext cx="1325880" cy="292608"/>
          </a:xfrm>
          <a:prstGeom prst="rect">
            <a:avLst/>
          </a:prstGeom>
          <a:noFill/>
          <a:ln/>
        </p:spPr>
        <p:txBody>
          <a:bodyPr wrap="square" lIns="0" tIns="0" rIns="0" bIns="0" rtlCol="0" anchor="ctr"/>
          <a:lstStyle/>
          <a:p>
            <a:pPr indent="0" marL="0">
              <a:buNone/>
            </a:pPr>
            <a:r>
              <a:rPr lang="en-US" sz="1250" b="1" dirty="0">
                <a:solidFill>
                  <a:srgbClr val="0B1F3A"/>
                </a:solidFill>
                <a:latin typeface="Arial" pitchFamily="34" charset="0"/>
                <a:ea typeface="Arial" pitchFamily="34" charset="-122"/>
                <a:cs typeface="Arial" pitchFamily="34" charset="-120"/>
              </a:rPr>
              <a:t>LEARN</a:t>
            </a:r>
            <a:endParaRPr lang="en-US" sz="1250" dirty="0"/>
          </a:p>
        </p:txBody>
      </p:sp>
      <p:sp>
        <p:nvSpPr>
          <p:cNvPr id="27" name="Text 25"/>
          <p:cNvSpPr/>
          <p:nvPr/>
        </p:nvSpPr>
        <p:spPr>
          <a:xfrm>
            <a:off x="7095744" y="1828800"/>
            <a:ext cx="1645920" cy="1737360"/>
          </a:xfrm>
          <a:prstGeom prst="rect">
            <a:avLst/>
          </a:prstGeom>
          <a:noFill/>
          <a:ln/>
        </p:spPr>
        <p:txBody>
          <a:bodyPr wrap="square" lIns="0" tIns="0" rIns="0" bIns="0" rtlCol="0" anchor="t"/>
          <a:lstStyle/>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Adopted / skipped / escalated tunes thresholds &amp; timing</a:t>
            </a:r>
            <a:endParaRPr lang="en-US" sz="880" dirty="0"/>
          </a:p>
          <a:p>
            <a:pPr marL="127000" indent="-127000">
              <a:lnSpc>
                <a:spcPct val="104000"/>
              </a:lnSpc>
              <a:spcAft>
                <a:spcPts val="600"/>
              </a:spcAft>
              <a:buSzPct val="100000"/>
              <a:buChar char="•"/>
            </a:pPr>
            <a:r>
              <a:rPr lang="en-US" sz="880" dirty="0">
                <a:solidFill>
                  <a:srgbClr val="16243D"/>
                </a:solidFill>
                <a:latin typeface="Arial" pitchFamily="34" charset="0"/>
                <a:ea typeface="Arial" pitchFamily="34" charset="-122"/>
                <a:cs typeface="Arial" pitchFamily="34" charset="-120"/>
              </a:rPr>
              <a:t>Adoption ladder unlocks the next journey</a:t>
            </a:r>
            <a:endParaRPr lang="en-US" sz="880" dirty="0"/>
          </a:p>
        </p:txBody>
      </p:sp>
      <p:sp>
        <p:nvSpPr>
          <p:cNvPr id="28" name="Shape 26"/>
          <p:cNvSpPr/>
          <p:nvPr/>
        </p:nvSpPr>
        <p:spPr>
          <a:xfrm>
            <a:off x="1417320" y="3822192"/>
            <a:ext cx="6309360" cy="0"/>
          </a:xfrm>
          <a:prstGeom prst="line">
            <a:avLst/>
          </a:prstGeom>
          <a:noFill/>
          <a:ln w="15875">
            <a:solidFill>
              <a:srgbClr val="B9C6DA"/>
            </a:solidFill>
            <a:prstDash val="dash"/>
            <a:tailEnd type="arrow"/>
          </a:ln>
        </p:spPr>
      </p:sp>
      <p:sp>
        <p:nvSpPr>
          <p:cNvPr id="29" name="Text 27"/>
          <p:cNvSpPr/>
          <p:nvPr/>
        </p:nvSpPr>
        <p:spPr>
          <a:xfrm>
            <a:off x="2651760" y="3840480"/>
            <a:ext cx="3840480" cy="219456"/>
          </a:xfrm>
          <a:prstGeom prst="rect">
            <a:avLst/>
          </a:prstGeom>
          <a:noFill/>
          <a:ln/>
        </p:spPr>
        <p:txBody>
          <a:bodyPr wrap="square" lIns="0" tIns="0" rIns="0" bIns="0" rtlCol="0" anchor="ctr"/>
          <a:lstStyle/>
          <a:p>
            <a:pPr algn="ctr" indent="0" marL="0">
              <a:buNone/>
            </a:pPr>
            <a:r>
              <a:rPr lang="en-US" sz="850" i="1" dirty="0">
                <a:solidFill>
                  <a:srgbClr val="5B6B84"/>
                </a:solidFill>
                <a:latin typeface="Arial" pitchFamily="34" charset="0"/>
                <a:ea typeface="Arial" pitchFamily="34" charset="-122"/>
                <a:cs typeface="Arial" pitchFamily="34" charset="-120"/>
              </a:rPr>
              <a:t>the loop closes — every decision (including silence) is logged</a:t>
            </a:r>
            <a:endParaRPr lang="en-US" sz="850" dirty="0"/>
          </a:p>
        </p:txBody>
      </p:sp>
      <p:sp>
        <p:nvSpPr>
          <p:cNvPr id="30" name="Shape 28"/>
          <p:cNvSpPr/>
          <p:nvPr/>
        </p:nvSpPr>
        <p:spPr>
          <a:xfrm>
            <a:off x="457200" y="4160520"/>
            <a:ext cx="8229600" cy="566928"/>
          </a:xfrm>
          <a:prstGeom prst="roundRect">
            <a:avLst>
              <a:gd name="adj" fmla="val 11290"/>
            </a:avLst>
          </a:prstGeom>
          <a:solidFill>
            <a:srgbClr val="EAF1FD"/>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31" name="Text 29"/>
          <p:cNvSpPr/>
          <p:nvPr/>
        </p:nvSpPr>
        <p:spPr>
          <a:xfrm>
            <a:off x="658368" y="4160520"/>
            <a:ext cx="7863840" cy="566928"/>
          </a:xfrm>
          <a:prstGeom prst="rect">
            <a:avLst/>
          </a:prstGeom>
          <a:noFill/>
          <a:ln/>
        </p:spPr>
        <p:txBody>
          <a:bodyPr wrap="square" lIns="0" tIns="0" rIns="0" bIns="0" rtlCol="0" anchor="ctr"/>
          <a:lstStyle/>
          <a:p>
            <a:pPr indent="0" marL="0">
              <a:buNone/>
            </a:pPr>
            <a:r>
              <a:rPr lang="en-US" sz="1050" b="1" dirty="0">
                <a:solidFill>
                  <a:srgbClr val="0B1F3A"/>
                </a:solidFill>
                <a:latin typeface="Arial" pitchFamily="34" charset="0"/>
                <a:ea typeface="Arial" pitchFamily="34" charset="-122"/>
                <a:cs typeface="Arial" pitchFamily="34" charset="-120"/>
              </a:rPr>
              <a:t>Every nudge ships with:  </a:t>
            </a:r>
            <a:pPr indent="0" marL="0">
              <a:buNone/>
            </a:pPr>
            <a:r>
              <a:rPr lang="en-US" sz="1050" dirty="0">
                <a:solidFill>
                  <a:srgbClr val="16243D"/>
                </a:solidFill>
                <a:latin typeface="Arial" pitchFamily="34" charset="0"/>
                <a:ea typeface="Arial" pitchFamily="34" charset="-122"/>
                <a:cs typeface="Arial" pitchFamily="34" charset="-120"/>
              </a:rPr>
              <a:t>the trigger · honest math incl. charges · what's NOT covered · a “Do nothing” option · Skip · Talk to a human — in your language, read aloud.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5</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THE DEMO SURFACE</a:t>
            </a:r>
            <a:endParaRPr lang="en-US" sz="1050" dirty="0"/>
          </a:p>
        </p:txBody>
      </p:sp>
      <p:sp>
        <p:nvSpPr>
          <p:cNvPr id="4" name="Text 2"/>
          <p:cNvSpPr/>
          <p:nvPr/>
        </p:nvSpPr>
        <p:spPr>
          <a:xfrm>
            <a:off x="457200" y="457200"/>
            <a:ext cx="8229600" cy="384048"/>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Six live journeys — one reusable framework.</a:t>
            </a:r>
            <a:endParaRPr lang="en-US" sz="2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07008"/>
          <a:ext cx="8229600" cy="914400"/>
        </p:xfrm>
        <a:graphic>
          <a:graphicData uri="http://schemas.openxmlformats.org/drawingml/2006/table">
            <a:tbl>
              <a:tblPr/>
              <a:tblGrid>
                <a:gridCol w="777240"/>
                <a:gridCol w="3063240"/>
                <a:gridCol w="4389120"/>
              </a:tblGrid>
              <a:tr h="420624">
                <a:tc>
                  <a:txBody>
                    <a:bodyPr/>
                    <a:lstStyle/>
                    <a:p>
                      <a:pPr indent="0" marL="0">
                        <a:buNone/>
                      </a:pPr>
                      <a:r>
                        <a:rPr lang="en-US" sz="1000" b="1" dirty="0">
                          <a:solidFill>
                            <a:srgbClr val="FFFFFF"/>
                          </a:solidFill>
                          <a:latin typeface="Arial" pitchFamily="34" charset="0"/>
                          <a:ea typeface="Arial" pitchFamily="34" charset="-122"/>
                          <a:cs typeface="Arial" pitchFamily="34" charset="-120"/>
                        </a:rPr>
                        <a:t>Flow</a:t>
                      </a:r>
                      <a:endParaRPr lang="en-US" sz="100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Trigger the agent perceives</a:t>
                      </a:r>
                      <a:endParaRPr lang="en-US" sz="100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The honest action</a:t>
                      </a:r>
                      <a:endParaRPr lang="en-US" sz="100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0B1F3A"/>
                    </a:solidFill>
                  </a:tcPr>
                </a:tc>
              </a:tr>
              <a:tr h="420624">
                <a:tc>
                  <a:txBody>
                    <a:bodyPr/>
                    <a:lstStyle/>
                    <a:p>
                      <a:pPr indent="0" marL="0">
                        <a:buNone/>
                      </a:pPr>
                      <a:r>
                        <a:rPr lang="en-US" sz="960" b="1" dirty="0">
                          <a:solidFill>
                            <a:srgbClr val="16243D"/>
                          </a:solidFill>
                          <a:latin typeface="Arial" pitchFamily="34" charset="0"/>
                          <a:ea typeface="Arial" pitchFamily="34" charset="-122"/>
                          <a:cs typeface="Arial" pitchFamily="34" charset="-120"/>
                        </a:rPr>
                        <a:t>A</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₹47k sitting idle for 150+ days</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Sweep-FD vs 2.7% savings — the honest math, incl. “do nothing”</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r>
              <a:tr h="420624">
                <a:tc>
                  <a:txBody>
                    <a:bodyPr/>
                    <a:lstStyle/>
                    <a:p>
                      <a:pPr indent="0" marL="0">
                        <a:buNone/>
                      </a:pPr>
                      <a:r>
                        <a:rPr lang="en-US" sz="960" b="1" dirty="0">
                          <a:solidFill>
                            <a:srgbClr val="E8930C"/>
                          </a:solidFill>
                          <a:latin typeface="Arial" pitchFamily="34" charset="0"/>
                          <a:ea typeface="Arial" pitchFamily="34" charset="-122"/>
                          <a:cs typeface="Arial" pitchFamily="34" charset="-120"/>
                        </a:rPr>
                        <a:t>B  ★</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FDF3E0"/>
                    </a:solidFill>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₹1,240/mo leaking to a competitor insurer</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FDF3E0"/>
                    </a:solidFill>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Side-by-side honest comparison — incl. the row where the competitor wins</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FDF3E0"/>
                    </a:solidFill>
                  </a:tcPr>
                </a:tc>
              </a:tr>
              <a:tr h="420624">
                <a:tc>
                  <a:txBody>
                    <a:bodyPr/>
                    <a:lstStyle/>
                    <a:p>
                      <a:pPr indent="0" marL="0">
                        <a:buNone/>
                      </a:pPr>
                      <a:r>
                        <a:rPr lang="en-US" sz="960" b="1" dirty="0">
                          <a:solidFill>
                            <a:srgbClr val="16243D"/>
                          </a:solidFill>
                          <a:latin typeface="Arial" pitchFamily="34" charset="0"/>
                          <a:ea typeface="Arial" pitchFamily="34" charset="-122"/>
                          <a:cs typeface="Arial" pitchFamily="34" charset="-120"/>
                        </a:rPr>
                        <a:t>C</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Salary jump ₹35k → ₹55k</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Open-shelf investing — the whole market on one screen, not just SBI funds</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r>
              <a:tr h="420624">
                <a:tc>
                  <a:txBody>
                    <a:bodyPr/>
                    <a:lstStyle/>
                    <a:p>
                      <a:pPr indent="0" marL="0">
                        <a:buNone/>
                      </a:pPr>
                      <a:r>
                        <a:rPr lang="en-US" sz="960" b="1" dirty="0">
                          <a:solidFill>
                            <a:srgbClr val="16243D"/>
                          </a:solidFill>
                          <a:latin typeface="Arial" pitchFamily="34" charset="0"/>
                          <a:ea typeface="Arial" pitchFamily="34" charset="-122"/>
                          <a:cs typeface="Arial" pitchFamily="34" charset="-120"/>
                        </a:rPr>
                        <a:t>D</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Bills paid every month in another app</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One-time discovery nudge + guided walkthrough → the adoption ladder</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r>
              <a:tr h="420624">
                <a:tc>
                  <a:txBody>
                    <a:bodyPr/>
                    <a:lstStyle/>
                    <a:p>
                      <a:pPr indent="0" marL="0">
                        <a:buNone/>
                      </a:pPr>
                      <a:r>
                        <a:rPr lang="en-US" sz="960" b="1" dirty="0">
                          <a:solidFill>
                            <a:srgbClr val="16243D"/>
                          </a:solidFill>
                          <a:latin typeface="Arial" pitchFamily="34" charset="0"/>
                          <a:ea typeface="Arial" pitchFamily="34" charset="-122"/>
                          <a:cs typeface="Arial" pitchFamily="34" charset="-120"/>
                        </a:rPr>
                        <a:t>S</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Unused subscription renews in 3 days</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Pause the UPI mandate at source → redirect the savings to a goal</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tcPr>
                </a:tc>
              </a:tr>
              <a:tr h="420624">
                <a:tc>
                  <a:txBody>
                    <a:bodyPr/>
                    <a:lstStyle/>
                    <a:p>
                      <a:pPr indent="0" marL="0">
                        <a:buNone/>
                      </a:pPr>
                      <a:r>
                        <a:rPr lang="en-US" sz="960" b="1" dirty="0">
                          <a:solidFill>
                            <a:srgbClr val="E8930C"/>
                          </a:solidFill>
                          <a:latin typeface="Arial" pitchFamily="34" charset="0"/>
                          <a:ea typeface="Arial" pitchFamily="34" charset="-122"/>
                          <a:cs typeface="Arial" pitchFamily="34" charset="-120"/>
                        </a:rPr>
                        <a:t>R  ★</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FDF3E0"/>
                    </a:solidFill>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A product you ALREADY own fails Diya's suitability filter</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FDF3E0"/>
                    </a:solidFill>
                  </a:tcPr>
                </a:tc>
                <a:tc>
                  <a:txBody>
                    <a:bodyPr/>
                    <a:lstStyle/>
                    <a:p>
                      <a:pPr indent="0" marL="0">
                        <a:buNone/>
                      </a:pPr>
                      <a:r>
                        <a:rPr lang="en-US" sz="960" dirty="0">
                          <a:solidFill>
                            <a:srgbClr val="16243D"/>
                          </a:solidFill>
                          <a:latin typeface="Arial" pitchFamily="34" charset="0"/>
                          <a:ea typeface="Arial" pitchFamily="34" charset="-122"/>
                          <a:cs typeface="Arial" pitchFamily="34" charset="-120"/>
                        </a:rPr>
                        <a:t>Reverse mis-selling flag → honest exit-vs-stay path in the surrender window</a:t>
                      </a:r>
                      <a:endParaRPr lang="en-US" sz="960" dirty="0">
                        <a:latin typeface="Arial" charset="0"/>
                        <a:ea typeface="Arial" charset="0"/>
                        <a:cs typeface="Arial" charset="0"/>
                      </a:endParaRPr>
                    </a:p>
                  </a:txBody>
                  <a:tcPr marL="54864" marR="54864" marT="54864" marB="54864" anchor="ctr">
                    <a:lnL w="9525" cap="flat" cmpd="sng" algn="ctr">
                      <a:solidFill>
                        <a:srgbClr val="DDE4EF"/>
                      </a:solidFill>
                      <a:prstDash val="solid"/>
                      <a:round/>
                      <a:headEnd type="none" w="med" len="med"/>
                      <a:tailEnd type="none" w="med" len="med"/>
                    </a:lnL>
                    <a:lnR w="9525" cap="flat" cmpd="sng" algn="ctr">
                      <a:solidFill>
                        <a:srgbClr val="DDE4EF"/>
                      </a:solidFill>
                      <a:prstDash val="solid"/>
                      <a:round/>
                      <a:headEnd type="none" w="med" len="med"/>
                      <a:tailEnd type="none" w="med" len="med"/>
                    </a:lnR>
                    <a:lnT w="9525" cap="flat" cmpd="sng" algn="ctr">
                      <a:solidFill>
                        <a:srgbClr val="DDE4EF"/>
                      </a:solidFill>
                      <a:prstDash val="solid"/>
                      <a:round/>
                      <a:headEnd type="none" w="med" len="med"/>
                      <a:tailEnd type="none" w="med" len="med"/>
                    </a:lnT>
                    <a:lnB w="9525" cap="flat" cmpd="sng" algn="ctr">
                      <a:solidFill>
                        <a:srgbClr val="DDE4EF"/>
                      </a:solidFill>
                      <a:prstDash val="solid"/>
                      <a:round/>
                      <a:headEnd type="none" w="med" len="med"/>
                      <a:tailEnd type="none" w="med" len="med"/>
                    </a:lnB>
                    <a:solidFill>
                      <a:srgbClr val="FDF3E0"/>
                    </a:solidFill>
                  </a:tcPr>
                </a:tc>
              </a:tr>
            </a:tbl>
          </a:graphicData>
        </a:graphic>
      </p:graphicFrame>
      <p:sp>
        <p:nvSpPr>
          <p:cNvPr id="6" name="Text 3"/>
          <p:cNvSpPr/>
          <p:nvPr/>
        </p:nvSpPr>
        <p:spPr>
          <a:xfrm>
            <a:off x="457200" y="4434840"/>
            <a:ext cx="8229600" cy="365760"/>
          </a:xfrm>
          <a:prstGeom prst="rect">
            <a:avLst/>
          </a:prstGeom>
          <a:noFill/>
          <a:ln/>
        </p:spPr>
        <p:txBody>
          <a:bodyPr wrap="square" lIns="0" tIns="0" rIns="0" bIns="0" rtlCol="0" anchor="ctr"/>
          <a:lstStyle/>
          <a:p>
            <a:pPr indent="0" marL="0">
              <a:buNone/>
            </a:pPr>
            <a:r>
              <a:rPr lang="en-US" sz="1050" b="1" dirty="0">
                <a:solidFill>
                  <a:srgbClr val="0B1F3A"/>
                </a:solidFill>
                <a:latin typeface="Arial" pitchFamily="34" charset="0"/>
                <a:ea typeface="Arial" pitchFamily="34" charset="-122"/>
                <a:cs typeface="Arial" pitchFamily="34" charset="-120"/>
              </a:rPr>
              <a:t>B and R are the hero pair: </a:t>
            </a:r>
            <a:pPr indent="0" marL="0">
              <a:buNone/>
            </a:pPr>
            <a:r>
              <a:rPr lang="en-US" sz="1050" dirty="0">
                <a:solidFill>
                  <a:srgbClr val="5B6B84"/>
                </a:solidFill>
                <a:latin typeface="Arial" pitchFamily="34" charset="0"/>
                <a:ea typeface="Arial" pitchFamily="34" charset="-122"/>
                <a:cs typeface="Arial" pitchFamily="34" charset="-120"/>
              </a:rPr>
              <a:t>the honest comparison for the product you're about to buy — and the honest audit of the one you were already sold.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6</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HERO DEMO — FLOW B</a:t>
            </a:r>
            <a:endParaRPr lang="en-US" sz="1050" dirty="0"/>
          </a:p>
        </p:txBody>
      </p:sp>
      <p:sp>
        <p:nvSpPr>
          <p:cNvPr id="4" name="Text 2"/>
          <p:cNvSpPr/>
          <p:nvPr/>
        </p:nvSpPr>
        <p:spPr>
          <a:xfrm>
            <a:off x="457200" y="457200"/>
            <a:ext cx="8229600" cy="45720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We show the row where the competitor wins — and what happens if you do nothing.</a:t>
            </a:r>
            <a:endParaRPr lang="en-US" sz="2300" dirty="0"/>
          </a:p>
        </p:txBody>
      </p:sp>
      <p:sp>
        <p:nvSpPr>
          <p:cNvPr id="5" name="Text 3"/>
          <p:cNvSpPr/>
          <p:nvPr/>
        </p:nvSpPr>
        <p:spPr>
          <a:xfrm>
            <a:off x="457200" y="1298448"/>
            <a:ext cx="4160520" cy="3383280"/>
          </a:xfrm>
          <a:prstGeom prst="rect">
            <a:avLst/>
          </a:prstGeom>
          <a:noFill/>
          <a:ln/>
        </p:spPr>
        <p:txBody>
          <a:bodyPr wrap="square" lIns="0" tIns="0" rIns="0" bIns="0" rtlCol="0" anchor="t"/>
          <a:lstStyle/>
          <a:p>
            <a:pPr marL="127000" indent="-127000">
              <a:lnSpc>
                <a:spcPct val="104000"/>
              </a:lnSpc>
              <a:spcAft>
                <a:spcPts val="900"/>
              </a:spcAft>
              <a:buSzPct val="100000"/>
              <a:buChar char="•"/>
            </a:pPr>
            <a:r>
              <a:rPr lang="en-US" sz="1080" dirty="0">
                <a:solidFill>
                  <a:srgbClr val="16243D"/>
                </a:solidFill>
                <a:latin typeface="Arial" pitchFamily="34" charset="0"/>
                <a:ea typeface="Arial" pitchFamily="34" charset="-122"/>
                <a:cs typeface="Arial" pitchFamily="34" charset="-120"/>
              </a:rPr>
              <a:t>Diya detects ₹1,240/mo leaking to a competitor insurer and offers a 30-second honest comparison</a:t>
            </a:r>
            <a:endParaRPr lang="en-US" sz="1080" dirty="0"/>
          </a:p>
          <a:p>
            <a:pPr marL="127000" indent="-127000">
              <a:lnSpc>
                <a:spcPct val="104000"/>
              </a:lnSpc>
              <a:spcAft>
                <a:spcPts val="900"/>
              </a:spcAft>
              <a:buSzPct val="100000"/>
              <a:buChar char="•"/>
            </a:pPr>
            <a:r>
              <a:rPr lang="en-US" sz="1080" dirty="0">
                <a:solidFill>
                  <a:srgbClr val="16243D"/>
                </a:solidFill>
                <a:latin typeface="Arial" pitchFamily="34" charset="0"/>
                <a:ea typeface="Arial" pitchFamily="34" charset="-122"/>
                <a:cs typeface="Arial" pitchFamily="34" charset="-120"/>
              </a:rPr>
              <a:t>Premium · cover · claim-settlement ratio · exclusions, side by side. The competitor's higher claim ratio is shown — in amber</a:t>
            </a:r>
            <a:endParaRPr lang="en-US" sz="1080" dirty="0"/>
          </a:p>
          <a:p>
            <a:pPr marL="127000" indent="-127000">
              <a:lnSpc>
                <a:spcPct val="104000"/>
              </a:lnSpc>
              <a:spcAft>
                <a:spcPts val="900"/>
              </a:spcAft>
              <a:buSzPct val="100000"/>
              <a:buChar char="•"/>
            </a:pPr>
            <a:r>
              <a:rPr lang="en-US" sz="1080" dirty="0">
                <a:solidFill>
                  <a:srgbClr val="16243D"/>
                </a:solidFill>
                <a:latin typeface="Arial" pitchFamily="34" charset="0"/>
                <a:ea typeface="Arial" pitchFamily="34" charset="-122"/>
                <a:cs typeface="Arial" pitchFamily="34" charset="-120"/>
              </a:rPr>
              <a:t>Every comparison carries a “Do nothing” column: keep your policy, pay nothing new. An honest baseline — and sometimes the winner</a:t>
            </a:r>
            <a:endParaRPr lang="en-US" sz="1080" dirty="0"/>
          </a:p>
          <a:p>
            <a:pPr marL="127000" indent="-127000">
              <a:lnSpc>
                <a:spcPct val="104000"/>
              </a:lnSpc>
              <a:spcAft>
                <a:spcPts val="900"/>
              </a:spcAft>
              <a:buSzPct val="100000"/>
              <a:buChar char="•"/>
            </a:pPr>
            <a:r>
              <a:rPr lang="en-US" sz="1080" dirty="0">
                <a:solidFill>
                  <a:srgbClr val="16243D"/>
                </a:solidFill>
                <a:latin typeface="Arial" pitchFamily="34" charset="0"/>
                <a:ea typeface="Arial" pitchFamily="34" charset="-122"/>
                <a:cs typeface="Arial" pitchFamily="34" charset="-120"/>
              </a:rPr>
              <a:t>Every figure is grounded in the cited RAG corpus — the agent cannot state a number it didn't retrieve</a:t>
            </a:r>
            <a:endParaRPr lang="en-US" sz="1080" dirty="0"/>
          </a:p>
          <a:p>
            <a:pPr marL="127000" indent="-127000">
              <a:lnSpc>
                <a:spcPct val="104000"/>
              </a:lnSpc>
              <a:spcAft>
                <a:spcPts val="900"/>
              </a:spcAft>
              <a:buSzPct val="100000"/>
              <a:buChar char="•"/>
            </a:pPr>
            <a:r>
              <a:rPr lang="en-US" sz="1080" dirty="0">
                <a:solidFill>
                  <a:srgbClr val="16243D"/>
                </a:solidFill>
                <a:latin typeface="Arial" pitchFamily="34" charset="0"/>
                <a:ea typeface="Arial" pitchFamily="34" charset="-122"/>
                <a:cs typeface="Arial" pitchFamily="34" charset="-120"/>
              </a:rPr>
              <a:t>“Switch only if it makes sense.” Skip and Talk-to-a-human on every card</a:t>
            </a:r>
            <a:endParaRPr lang="en-US" sz="1080" dirty="0"/>
          </a:p>
        </p:txBody>
      </p:sp>
      <p:sp>
        <p:nvSpPr>
          <p:cNvPr id="6" name="Shape 4"/>
          <p:cNvSpPr/>
          <p:nvPr/>
        </p:nvSpPr>
        <p:spPr>
          <a:xfrm>
            <a:off x="4892040" y="1298448"/>
            <a:ext cx="3794760" cy="2194560"/>
          </a:xfrm>
          <a:prstGeom prst="roundRect">
            <a:avLst>
              <a:gd name="adj" fmla="val 2500"/>
            </a:avLst>
          </a:prstGeom>
          <a:solidFill>
            <a:srgbClr val="F4F6FB"/>
          </a:solidFill>
          <a:ln w="15875">
            <a:noFill/>
            <a:prstDash val="dash"/>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92040" y="3639312"/>
          <a:ext cx="3794760" cy="914400"/>
        </p:xfrm>
        <a:graphic>
          <a:graphicData uri="http://schemas.openxmlformats.org/drawingml/2006/table">
            <a:tbl>
              <a:tblPr/>
              <a:tblGrid>
                <a:gridCol w="777240"/>
                <a:gridCol w="1005840"/>
                <a:gridCol w="1234440"/>
                <a:gridCol w="777240"/>
              </a:tblGrid>
              <a:tr h="256032">
                <a:tc>
                  <a:txBody>
                    <a:bodyPr/>
                    <a:lstStyle/>
                    <a:p>
                      <a:pPr indent="0" marL="0">
                        <a:buNone/>
                      </a:pPr>
                      <a:endParaRPr lang="en-US" sz="1200" dirty="0">
                        <a:latin typeface="Arial" charset="0"/>
                        <a:ea typeface="Arial" charset="0"/>
                        <a:cs typeface="Arial" charset="0"/>
                      </a:endParaRPr>
                    </a:p>
                  </a:txBody>
                  <a:tcPr marL="36576" marR="36576" marT="36576" marB="36576">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4F6FB"/>
                    </a:solidFill>
                  </a:tcPr>
                </a:tc>
                <a:tc>
                  <a:txBody>
                    <a:bodyPr/>
                    <a:lstStyle/>
                    <a:p>
                      <a:pPr indent="0" marL="0">
                        <a:buNone/>
                      </a:pPr>
                      <a:r>
                        <a:rPr lang="en-US" sz="860" b="1" dirty="0">
                          <a:solidFill>
                            <a:srgbClr val="0B1F3A"/>
                          </a:solidFill>
                          <a:latin typeface="Arial" pitchFamily="34" charset="0"/>
                          <a:ea typeface="Arial" pitchFamily="34" charset="-122"/>
                          <a:cs typeface="Arial" pitchFamily="34" charset="-120"/>
                        </a:rPr>
                        <a:t>SBI Smart Shield</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4F6FB"/>
                    </a:solidFill>
                  </a:tcPr>
                </a:tc>
                <a:tc>
                  <a:txBody>
                    <a:bodyPr/>
                    <a:lstStyle/>
                    <a:p>
                      <a:pPr indent="0" marL="0">
                        <a:buNone/>
                      </a:pPr>
                      <a:r>
                        <a:rPr lang="en-US" sz="860" b="1" dirty="0">
                          <a:solidFill>
                            <a:srgbClr val="0B1F3A"/>
                          </a:solidFill>
                          <a:latin typeface="Arial" pitchFamily="34" charset="0"/>
                          <a:ea typeface="Arial" pitchFamily="34" charset="-122"/>
                          <a:cs typeface="Arial" pitchFamily="34" charset="-120"/>
                        </a:rPr>
                        <a:t>Current policy</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4F6FB"/>
                    </a:solidFill>
                  </a:tcPr>
                </a:tc>
                <a:tc>
                  <a:txBody>
                    <a:bodyPr/>
                    <a:lstStyle/>
                    <a:p>
                      <a:pPr indent="0" marL="0">
                        <a:buNone/>
                      </a:pPr>
                      <a:r>
                        <a:rPr lang="en-US" sz="860" b="1" dirty="0">
                          <a:solidFill>
                            <a:srgbClr val="0FB98A"/>
                          </a:solidFill>
                          <a:latin typeface="Arial" pitchFamily="34" charset="0"/>
                          <a:ea typeface="Arial" pitchFamily="34" charset="-122"/>
                          <a:cs typeface="Arial" pitchFamily="34" charset="-120"/>
                        </a:rPr>
                        <a:t>Do nothing</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4F6FB"/>
                    </a:solidFill>
                  </a:tcPr>
                </a:tc>
              </a:tr>
              <a:tr h="256032">
                <a:tc>
                  <a:txBody>
                    <a:bodyPr/>
                    <a:lstStyle/>
                    <a:p>
                      <a:pPr indent="0" marL="0">
                        <a:buNone/>
                      </a:pPr>
                      <a:r>
                        <a:rPr lang="en-US" sz="860" dirty="0">
                          <a:solidFill>
                            <a:srgbClr val="5B6B84"/>
                          </a:solidFill>
                          <a:latin typeface="Arial" pitchFamily="34" charset="0"/>
                          <a:ea typeface="Arial" pitchFamily="34" charset="-122"/>
                          <a:cs typeface="Arial" pitchFamily="34" charset="-120"/>
                        </a:rPr>
                        <a:t>Premium</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₹990/mo</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₹1,240/mo</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₹0 extra</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256032">
                <a:tc>
                  <a:txBody>
                    <a:bodyPr/>
                    <a:lstStyle/>
                    <a:p>
                      <a:pPr indent="0" marL="0">
                        <a:buNone/>
                      </a:pPr>
                      <a:r>
                        <a:rPr lang="en-US" sz="860" dirty="0">
                          <a:solidFill>
                            <a:srgbClr val="5B6B84"/>
                          </a:solidFill>
                          <a:latin typeface="Arial" pitchFamily="34" charset="0"/>
                          <a:ea typeface="Arial" pitchFamily="34" charset="-122"/>
                          <a:cs typeface="Arial" pitchFamily="34" charset="-120"/>
                        </a:rPr>
                        <a:t>Claim ratio</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DF3E0"/>
                    </a:solidFill>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98.4%</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DF3E0"/>
                    </a:solidFill>
                  </a:tcPr>
                </a:tc>
                <a:tc>
                  <a:txBody>
                    <a:bodyPr/>
                    <a:lstStyle/>
                    <a:p>
                      <a:pPr indent="0" marL="0">
                        <a:buNone/>
                      </a:pPr>
                      <a:r>
                        <a:rPr lang="en-US" sz="860" b="1" dirty="0">
                          <a:solidFill>
                            <a:srgbClr val="E8930C"/>
                          </a:solidFill>
                          <a:latin typeface="Arial" pitchFamily="34" charset="0"/>
                          <a:ea typeface="Arial" pitchFamily="34" charset="-122"/>
                          <a:cs typeface="Arial" pitchFamily="34" charset="-120"/>
                        </a:rPr>
                        <a:t>99.1% — wins</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DF3E0"/>
                    </a:solidFill>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FDF3E0"/>
                    </a:solidFill>
                  </a:tcPr>
                </a:tc>
              </a:tr>
              <a:tr h="256032">
                <a:tc>
                  <a:txBody>
                    <a:bodyPr/>
                    <a:lstStyle/>
                    <a:p>
                      <a:pPr indent="0" marL="0">
                        <a:buNone/>
                      </a:pPr>
                      <a:r>
                        <a:rPr lang="en-US" sz="860" dirty="0">
                          <a:solidFill>
                            <a:srgbClr val="5B6B84"/>
                          </a:solidFill>
                          <a:latin typeface="Arial" pitchFamily="34" charset="0"/>
                          <a:ea typeface="Arial" pitchFamily="34" charset="-122"/>
                          <a:cs typeface="Arial" pitchFamily="34" charset="-120"/>
                        </a:rPr>
                        <a:t>Cover</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₹1 Cr</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₹75 L</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unchanged</a:t>
                      </a:r>
                      <a:endParaRPr lang="en-US" sz="860" dirty="0">
                        <a:latin typeface="Arial" charset="0"/>
                        <a:ea typeface="Arial" charset="0"/>
                        <a:cs typeface="Arial" charset="0"/>
                      </a:endParaRPr>
                    </a:p>
                  </a:txBody>
                  <a:tcPr marL="36576" marR="36576" marT="36576" marB="36576"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bl>
          </a:graphicData>
        </a:graphic>
      </p:graphicFrame>
      <p:sp>
        <p:nvSpPr>
          <p:cNvPr id="9" name="Text 6"/>
          <p:cNvSpPr/>
          <p:nvPr/>
        </p:nvSpPr>
        <p:spPr>
          <a:xfrm>
            <a:off x="4892040" y="4700016"/>
            <a:ext cx="3794760" cy="182880"/>
          </a:xfrm>
          <a:prstGeom prst="rect">
            <a:avLst/>
          </a:prstGeom>
          <a:noFill/>
          <a:ln/>
        </p:spPr>
        <p:txBody>
          <a:bodyPr wrap="square" lIns="0" tIns="0" rIns="0" bIns="0" rtlCol="0" anchor="ctr"/>
          <a:lstStyle/>
          <a:p>
            <a:pPr indent="0" marL="0">
              <a:buNone/>
            </a:pPr>
            <a:r>
              <a:rPr lang="en-US" sz="800" i="1" dirty="0">
                <a:solidFill>
                  <a:srgbClr val="9AA7BC"/>
                </a:solidFill>
                <a:latin typeface="Arial" pitchFamily="34" charset="0"/>
                <a:ea typeface="Arial" pitchFamily="34" charset="-122"/>
                <a:cs typeface="Arial" pitchFamily="34" charset="-120"/>
              </a:rPr>
              <a:t>Figures illustrative — synthetic, corpus-grounded.</a:t>
            </a:r>
            <a:endParaRPr lang="en-US" sz="800" dirty="0"/>
          </a:p>
        </p:txBody>
      </p:sp>
      <p:pic>
        <p:nvPicPr>
          <p:cNvPr id="10" name="Picture 9" descr="deck_s6.png"/>
          <p:cNvPicPr>
            <a:picLocks noChangeAspect="1"/>
          </p:cNvPicPr>
          <p:nvPr/>
        </p:nvPicPr>
        <p:blipFill>
          <a:blip r:embed="rId3"/>
          <a:stretch>
            <a:fillRect/>
          </a:stretch>
        </p:blipFill>
        <p:spPr>
          <a:xfrm>
            <a:off x="5723659" y="1331366"/>
            <a:ext cx="2131520" cy="21287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7</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THE HEADLINE FEATURE — FLOW R</a:t>
            </a:r>
            <a:endParaRPr lang="en-US" sz="1050" dirty="0"/>
          </a:p>
        </p:txBody>
      </p:sp>
      <p:sp>
        <p:nvSpPr>
          <p:cNvPr id="4" name="Text 2"/>
          <p:cNvSpPr/>
          <p:nvPr/>
        </p:nvSpPr>
        <p:spPr>
          <a:xfrm>
            <a:off x="457200" y="457200"/>
            <a:ext cx="8229600" cy="41148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The bank's own agent flags the bank's own past mis-sale.</a:t>
            </a:r>
            <a:endParaRPr lang="en-US" sz="2300" dirty="0"/>
          </a:p>
        </p:txBody>
      </p:sp>
      <p:sp>
        <p:nvSpPr>
          <p:cNvPr id="5" name="Text 3"/>
          <p:cNvSpPr/>
          <p:nvPr/>
        </p:nvSpPr>
        <p:spPr>
          <a:xfrm>
            <a:off x="457200" y="1234440"/>
            <a:ext cx="4160520" cy="3063240"/>
          </a:xfrm>
          <a:prstGeom prst="rect">
            <a:avLst/>
          </a:prstGeom>
          <a:noFill/>
          <a:ln/>
        </p:spPr>
        <p:txBody>
          <a:bodyPr wrap="square" lIns="0" tIns="0" rIns="0" bIns="0" rtlCol="0" anchor="t"/>
          <a:lstStyle/>
          <a:p>
            <a:pPr marL="127000" indent="-127000">
              <a:lnSpc>
                <a:spcPct val="104000"/>
              </a:lnSpc>
              <a:spcAft>
                <a:spcPts val="800"/>
              </a:spcAft>
              <a:buSzPct val="100000"/>
              <a:buChar char="•"/>
            </a:pPr>
            <a:r>
              <a:rPr lang="en-US" sz="1060" dirty="0">
                <a:solidFill>
                  <a:srgbClr val="16243D"/>
                </a:solidFill>
                <a:latin typeface="Arial" pitchFamily="34" charset="0"/>
                <a:ea typeface="Arial" pitchFamily="34" charset="-122"/>
                <a:cs typeface="Arial" pitchFamily="34" charset="-120"/>
              </a:rPr>
              <a:t>Diya runs its hard suitability filter over the products a user ALREADY owns — not just new recommendations</a:t>
            </a:r>
            <a:endParaRPr lang="en-US" sz="1060" dirty="0"/>
          </a:p>
          <a:p>
            <a:pPr marL="127000" indent="-127000">
              <a:lnSpc>
                <a:spcPct val="104000"/>
              </a:lnSpc>
              <a:spcAft>
                <a:spcPts val="800"/>
              </a:spcAft>
              <a:buSzPct val="100000"/>
              <a:buChar char="•"/>
            </a:pPr>
            <a:r>
              <a:rPr lang="en-US" sz="1060" dirty="0">
                <a:solidFill>
                  <a:srgbClr val="16243D"/>
                </a:solidFill>
                <a:latin typeface="Arial" pitchFamily="34" charset="0"/>
                <a:ea typeface="Arial" pitchFamily="34" charset="-122"/>
                <a:cs typeface="Arial" pitchFamily="34" charset="-120"/>
              </a:rPr>
              <a:t>Demo: a ULIP sold through the old human channel to a customer it never suited. The filter fails it — and Diya says so, inside SBI's own app</a:t>
            </a:r>
            <a:endParaRPr lang="en-US" sz="1060" dirty="0"/>
          </a:p>
          <a:p>
            <a:pPr marL="127000" indent="-127000">
              <a:lnSpc>
                <a:spcPct val="104000"/>
              </a:lnSpc>
              <a:spcAft>
                <a:spcPts val="800"/>
              </a:spcAft>
              <a:buSzPct val="100000"/>
              <a:buChar char="•"/>
            </a:pPr>
            <a:r>
              <a:rPr lang="en-US" sz="1060" dirty="0">
                <a:solidFill>
                  <a:srgbClr val="16243D"/>
                </a:solidFill>
                <a:latin typeface="Arial" pitchFamily="34" charset="0"/>
                <a:ea typeface="Arial" pitchFamily="34" charset="-122"/>
                <a:cs typeface="Arial" pitchFamily="34" charset="-120"/>
              </a:rPr>
              <a:t>Honest exit-vs-stay path: the free-look / surrender window, exact surrender value vs. staying, what cover is lost — and a simpler suitable alternative, or none</a:t>
            </a:r>
            <a:endParaRPr lang="en-US" sz="1060" dirty="0"/>
          </a:p>
          <a:p>
            <a:pPr marL="127000" indent="-127000">
              <a:lnSpc>
                <a:spcPct val="104000"/>
              </a:lnSpc>
              <a:spcAft>
                <a:spcPts val="800"/>
              </a:spcAft>
              <a:buSzPct val="100000"/>
              <a:buChar char="•"/>
            </a:pPr>
            <a:r>
              <a:rPr lang="en-US" sz="1060" dirty="0">
                <a:solidFill>
                  <a:srgbClr val="16243D"/>
                </a:solidFill>
                <a:latin typeface="Arial" pitchFamily="34" charset="0"/>
                <a:ea typeface="Arial" pitchFamily="34" charset="-122"/>
                <a:cs typeface="Arial" pitchFamily="34" charset="-120"/>
              </a:rPr>
              <a:t>“Talk to a human advisor” before any action; nothing moves without explicit consent (plus Guardian co-approval where enabled)</a:t>
            </a:r>
            <a:endParaRPr lang="en-US" sz="1060" dirty="0"/>
          </a:p>
          <a:p>
            <a:pPr marL="127000" indent="-127000">
              <a:lnSpc>
                <a:spcPct val="104000"/>
              </a:lnSpc>
              <a:spcAft>
                <a:spcPts val="800"/>
              </a:spcAft>
              <a:buSzPct val="100000"/>
              <a:buChar char="•"/>
            </a:pPr>
            <a:r>
              <a:rPr lang="en-US" sz="1060" b="1" dirty="0">
                <a:solidFill>
                  <a:srgbClr val="0B1F3A"/>
                </a:solidFill>
                <a:latin typeface="Arial" pitchFamily="34" charset="0"/>
                <a:ea typeface="Arial" pitchFamily="34" charset="-122"/>
                <a:cs typeface="Arial" pitchFamily="34" charset="-120"/>
              </a:rPr>
              <a:t>This makes “mis-selling remediation” literal — the remediation engine SBI is under pressure to build, running inside its own app</a:t>
            </a:r>
            <a:endParaRPr lang="en-US" sz="1060" dirty="0"/>
          </a:p>
        </p:txBody>
      </p:sp>
      <p:sp>
        <p:nvSpPr>
          <p:cNvPr id="6" name="Shape 4"/>
          <p:cNvSpPr/>
          <p:nvPr/>
        </p:nvSpPr>
        <p:spPr>
          <a:xfrm>
            <a:off x="4892040" y="1234440"/>
            <a:ext cx="3794760" cy="3017520"/>
          </a:xfrm>
          <a:prstGeom prst="roundRect">
            <a:avLst>
              <a:gd name="adj" fmla="val 1818"/>
            </a:avLst>
          </a:prstGeom>
          <a:solidFill>
            <a:srgbClr val="F4F6FB"/>
          </a:solidFill>
          <a:ln w="15875">
            <a:noFill/>
            <a:prstDash val="dash"/>
          </a:ln>
        </p:spPr>
        <p:txBody>
          <a:bodyPr/>
          <a:p/>
        </p:txBody>
      </p:sp>
      <p:sp>
        <p:nvSpPr>
          <p:cNvPr id="8" name="Shape 6"/>
          <p:cNvSpPr/>
          <p:nvPr/>
        </p:nvSpPr>
        <p:spPr>
          <a:xfrm>
            <a:off x="457200" y="4407408"/>
            <a:ext cx="1920240" cy="402336"/>
          </a:xfrm>
          <a:prstGeom prst="roundRect">
            <a:avLst>
              <a:gd name="adj" fmla="val 15909"/>
            </a:avLst>
          </a:prstGeom>
          <a:solidFill>
            <a:srgbClr val="F4F6FB"/>
          </a:solidFill>
          <a:ln w="9525">
            <a:solidFill>
              <a:srgbClr val="DDE4EF"/>
            </a:solidFill>
            <a:prstDash val="solid"/>
          </a:ln>
        </p:spPr>
      </p:sp>
      <p:sp>
        <p:nvSpPr>
          <p:cNvPr id="9" name="Text 7"/>
          <p:cNvSpPr/>
          <p:nvPr/>
        </p:nvSpPr>
        <p:spPr>
          <a:xfrm>
            <a:off x="457200" y="4407408"/>
            <a:ext cx="1920240" cy="402336"/>
          </a:xfrm>
          <a:prstGeom prst="rect">
            <a:avLst/>
          </a:prstGeom>
          <a:noFill/>
          <a:ln/>
        </p:spPr>
        <p:txBody>
          <a:bodyPr wrap="square" lIns="0" tIns="0" rIns="0" bIns="0" rtlCol="0" anchor="ctr"/>
          <a:lstStyle/>
          <a:p>
            <a:pPr algn="ctr" indent="0" marL="0">
              <a:buNone/>
            </a:pPr>
            <a:r>
              <a:rPr lang="en-US" sz="920" b="1" dirty="0">
                <a:solidFill>
                  <a:srgbClr val="5B6B84"/>
                </a:solidFill>
                <a:latin typeface="Arial" pitchFamily="34" charset="0"/>
                <a:ea typeface="Arial" pitchFamily="34" charset="-122"/>
                <a:cs typeface="Arial" pitchFamily="34" charset="-120"/>
              </a:rPr>
              <a:t>Owns a ULIP</a:t>
            </a:r>
            <a:endParaRPr lang="en-US" sz="920" dirty="0"/>
          </a:p>
        </p:txBody>
      </p:sp>
      <p:sp>
        <p:nvSpPr>
          <p:cNvPr id="10" name="Shape 8"/>
          <p:cNvSpPr/>
          <p:nvPr/>
        </p:nvSpPr>
        <p:spPr>
          <a:xfrm>
            <a:off x="2386584" y="4517136"/>
            <a:ext cx="201168" cy="182880"/>
          </a:xfrm>
          <a:prstGeom prst="rightArrow">
            <a:avLst/>
          </a:prstGeom>
          <a:solidFill>
            <a:srgbClr val="B9C6DA"/>
          </a:solidFill>
          <a:ln/>
        </p:spPr>
      </p:sp>
      <p:sp>
        <p:nvSpPr>
          <p:cNvPr id="11" name="Shape 9"/>
          <p:cNvSpPr/>
          <p:nvPr/>
        </p:nvSpPr>
        <p:spPr>
          <a:xfrm>
            <a:off x="2596896" y="4407408"/>
            <a:ext cx="1920240" cy="402336"/>
          </a:xfrm>
          <a:prstGeom prst="roundRect">
            <a:avLst>
              <a:gd name="adj" fmla="val 15909"/>
            </a:avLst>
          </a:prstGeom>
          <a:solidFill>
            <a:srgbClr val="F4F6FB"/>
          </a:solidFill>
          <a:ln w="9525">
            <a:solidFill>
              <a:srgbClr val="DDE4EF"/>
            </a:solidFill>
            <a:prstDash val="solid"/>
          </a:ln>
        </p:spPr>
      </p:sp>
      <p:sp>
        <p:nvSpPr>
          <p:cNvPr id="12" name="Text 10"/>
          <p:cNvSpPr/>
          <p:nvPr/>
        </p:nvSpPr>
        <p:spPr>
          <a:xfrm>
            <a:off x="2596896" y="4407408"/>
            <a:ext cx="1920240" cy="402336"/>
          </a:xfrm>
          <a:prstGeom prst="rect">
            <a:avLst/>
          </a:prstGeom>
          <a:noFill/>
          <a:ln/>
        </p:spPr>
        <p:txBody>
          <a:bodyPr wrap="square" lIns="0" tIns="0" rIns="0" bIns="0" rtlCol="0" anchor="ctr"/>
          <a:lstStyle/>
          <a:p>
            <a:pPr algn="ctr" indent="0" marL="0">
              <a:buNone/>
            </a:pPr>
            <a:r>
              <a:rPr lang="en-US" sz="920" b="1" dirty="0">
                <a:solidFill>
                  <a:srgbClr val="E8930C"/>
                </a:solidFill>
                <a:latin typeface="Arial" pitchFamily="34" charset="0"/>
                <a:ea typeface="Arial" pitchFamily="34" charset="-122"/>
                <a:cs typeface="Arial" pitchFamily="34" charset="-120"/>
              </a:rPr>
              <a:t>Suitability filter: FAIL</a:t>
            </a:r>
            <a:endParaRPr lang="en-US" sz="920" dirty="0"/>
          </a:p>
        </p:txBody>
      </p:sp>
      <p:sp>
        <p:nvSpPr>
          <p:cNvPr id="13" name="Shape 11"/>
          <p:cNvSpPr/>
          <p:nvPr/>
        </p:nvSpPr>
        <p:spPr>
          <a:xfrm>
            <a:off x="4526280" y="4517136"/>
            <a:ext cx="201168" cy="182880"/>
          </a:xfrm>
          <a:prstGeom prst="rightArrow">
            <a:avLst/>
          </a:prstGeom>
          <a:solidFill>
            <a:srgbClr val="B9C6DA"/>
          </a:solidFill>
          <a:ln/>
        </p:spPr>
      </p:sp>
      <p:sp>
        <p:nvSpPr>
          <p:cNvPr id="14" name="Shape 12"/>
          <p:cNvSpPr/>
          <p:nvPr/>
        </p:nvSpPr>
        <p:spPr>
          <a:xfrm>
            <a:off x="4736592" y="4407408"/>
            <a:ext cx="1920240" cy="402336"/>
          </a:xfrm>
          <a:prstGeom prst="roundRect">
            <a:avLst>
              <a:gd name="adj" fmla="val 15909"/>
            </a:avLst>
          </a:prstGeom>
          <a:solidFill>
            <a:srgbClr val="F4F6FB"/>
          </a:solidFill>
          <a:ln w="9525">
            <a:solidFill>
              <a:srgbClr val="DDE4EF"/>
            </a:solidFill>
            <a:prstDash val="solid"/>
          </a:ln>
        </p:spPr>
      </p:sp>
      <p:sp>
        <p:nvSpPr>
          <p:cNvPr id="15" name="Text 13"/>
          <p:cNvSpPr/>
          <p:nvPr/>
        </p:nvSpPr>
        <p:spPr>
          <a:xfrm>
            <a:off x="4736592" y="4407408"/>
            <a:ext cx="1920240" cy="402336"/>
          </a:xfrm>
          <a:prstGeom prst="rect">
            <a:avLst/>
          </a:prstGeom>
          <a:noFill/>
          <a:ln/>
        </p:spPr>
        <p:txBody>
          <a:bodyPr wrap="square" lIns="0" tIns="0" rIns="0" bIns="0" rtlCol="0" anchor="ctr"/>
          <a:lstStyle/>
          <a:p>
            <a:pPr algn="ctr" indent="0" marL="0">
              <a:buNone/>
            </a:pPr>
            <a:r>
              <a:rPr lang="en-US" sz="920" b="1" dirty="0">
                <a:solidFill>
                  <a:srgbClr val="1755C4"/>
                </a:solidFill>
                <a:latin typeface="Arial" pitchFamily="34" charset="0"/>
                <a:ea typeface="Arial" pitchFamily="34" charset="-122"/>
                <a:cs typeface="Arial" pitchFamily="34" charset="-120"/>
              </a:rPr>
              <a:t>Exit-vs-stay honest math</a:t>
            </a:r>
            <a:endParaRPr lang="en-US" sz="920" dirty="0"/>
          </a:p>
        </p:txBody>
      </p:sp>
      <p:sp>
        <p:nvSpPr>
          <p:cNvPr id="16" name="Shape 14"/>
          <p:cNvSpPr/>
          <p:nvPr/>
        </p:nvSpPr>
        <p:spPr>
          <a:xfrm>
            <a:off x="6665976" y="4517136"/>
            <a:ext cx="201168" cy="182880"/>
          </a:xfrm>
          <a:prstGeom prst="rightArrow">
            <a:avLst/>
          </a:prstGeom>
          <a:solidFill>
            <a:srgbClr val="B9C6DA"/>
          </a:solidFill>
          <a:ln/>
        </p:spPr>
      </p:sp>
      <p:sp>
        <p:nvSpPr>
          <p:cNvPr id="17" name="Shape 15"/>
          <p:cNvSpPr/>
          <p:nvPr/>
        </p:nvSpPr>
        <p:spPr>
          <a:xfrm>
            <a:off x="6876288" y="4407408"/>
            <a:ext cx="1920240" cy="402336"/>
          </a:xfrm>
          <a:prstGeom prst="roundRect">
            <a:avLst>
              <a:gd name="adj" fmla="val 15909"/>
            </a:avLst>
          </a:prstGeom>
          <a:solidFill>
            <a:srgbClr val="F4F6FB"/>
          </a:solidFill>
          <a:ln w="9525">
            <a:solidFill>
              <a:srgbClr val="DDE4EF"/>
            </a:solidFill>
            <a:prstDash val="solid"/>
          </a:ln>
        </p:spPr>
      </p:sp>
      <p:sp>
        <p:nvSpPr>
          <p:cNvPr id="18" name="Text 16"/>
          <p:cNvSpPr/>
          <p:nvPr/>
        </p:nvSpPr>
        <p:spPr>
          <a:xfrm>
            <a:off x="6876288" y="4407408"/>
            <a:ext cx="1920240" cy="402336"/>
          </a:xfrm>
          <a:prstGeom prst="rect">
            <a:avLst/>
          </a:prstGeom>
          <a:noFill/>
          <a:ln/>
        </p:spPr>
        <p:txBody>
          <a:bodyPr wrap="square" lIns="0" tIns="0" rIns="0" bIns="0" rtlCol="0" anchor="ctr"/>
          <a:lstStyle/>
          <a:p>
            <a:pPr algn="ctr" indent="0" marL="0">
              <a:buNone/>
            </a:pPr>
            <a:r>
              <a:rPr lang="en-US" sz="920" b="1" dirty="0">
                <a:solidFill>
                  <a:srgbClr val="0FB98A"/>
                </a:solidFill>
                <a:latin typeface="Arial" pitchFamily="34" charset="0"/>
                <a:ea typeface="Arial" pitchFamily="34" charset="-122"/>
                <a:cs typeface="Arial" pitchFamily="34" charset="-120"/>
              </a:rPr>
              <a:t>User + family decide</a:t>
            </a:r>
            <a:endParaRPr lang="en-US" sz="920" dirty="0"/>
          </a:p>
        </p:txBody>
      </p:sp>
      <p:pic>
        <p:nvPicPr>
          <p:cNvPr id="19" name="Picture 18" descr="deck_s7.png"/>
          <p:cNvPicPr>
            <a:picLocks noChangeAspect="1"/>
          </p:cNvPicPr>
          <p:nvPr/>
        </p:nvPicPr>
        <p:blipFill>
          <a:blip r:embed="rId3"/>
          <a:stretch>
            <a:fillRect/>
          </a:stretch>
        </p:blipFill>
        <p:spPr>
          <a:xfrm>
            <a:off x="5772730" y="1279702"/>
            <a:ext cx="2033378" cy="29269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8</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RADICAL TRANSPARENCY</a:t>
            </a:r>
            <a:endParaRPr lang="en-US" sz="1050" dirty="0"/>
          </a:p>
        </p:txBody>
      </p:sp>
      <p:sp>
        <p:nvSpPr>
          <p:cNvPr id="4" name="Text 2"/>
          <p:cNvSpPr/>
          <p:nvPr/>
        </p:nvSpPr>
        <p:spPr>
          <a:xfrm>
            <a:off x="457200" y="457200"/>
            <a:ext cx="8229600" cy="41148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Every recommendation must survive its own cross-examination.</a:t>
            </a:r>
            <a:endParaRPr lang="en-US" sz="2300" dirty="0"/>
          </a:p>
        </p:txBody>
      </p:sp>
      <p:sp>
        <p:nvSpPr>
          <p:cNvPr id="5" name="Shape 3"/>
          <p:cNvSpPr/>
          <p:nvPr/>
        </p:nvSpPr>
        <p:spPr>
          <a:xfrm>
            <a:off x="457200" y="1280160"/>
            <a:ext cx="2560320" cy="1554480"/>
          </a:xfrm>
          <a:prstGeom prst="roundRect">
            <a:avLst>
              <a:gd name="adj" fmla="val 4118"/>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6" name="Shape 4"/>
          <p:cNvSpPr/>
          <p:nvPr/>
        </p:nvSpPr>
        <p:spPr>
          <a:xfrm>
            <a:off x="594360" y="1399032"/>
            <a:ext cx="274320" cy="274320"/>
          </a:xfrm>
          <a:prstGeom prst="ellipse">
            <a:avLst/>
          </a:prstGeom>
          <a:solidFill>
            <a:srgbClr val="1755C4"/>
          </a:solidFill>
          <a:ln/>
        </p:spPr>
        <p:txBody>
          <a:bodyPr/>
          <a:p/>
        </p:txBody>
      </p:sp>
      <p:sp>
        <p:nvSpPr>
          <p:cNvPr id="7" name="Text 5"/>
          <p:cNvSpPr/>
          <p:nvPr/>
        </p:nvSpPr>
        <p:spPr>
          <a:xfrm>
            <a:off x="548640" y="1380744"/>
            <a:ext cx="3657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8" name="Text 6"/>
          <p:cNvSpPr/>
          <p:nvPr/>
        </p:nvSpPr>
        <p:spPr>
          <a:xfrm>
            <a:off x="950976" y="1399032"/>
            <a:ext cx="1965960" cy="274320"/>
          </a:xfrm>
          <a:prstGeom prst="rect">
            <a:avLst/>
          </a:prstGeom>
          <a:noFill/>
          <a:ln/>
        </p:spPr>
        <p:txBody>
          <a:bodyPr wrap="square" lIns="0" tIns="0" rIns="0" bIns="0" rtlCol="0" anchor="ctr"/>
          <a:lstStyle/>
          <a:p>
            <a:pPr indent="0" marL="0">
              <a:buNone/>
            </a:pPr>
            <a:r>
              <a:rPr lang="en-US" sz="1080" b="1" dirty="0">
                <a:solidFill>
                  <a:srgbClr val="0B1F3A"/>
                </a:solidFill>
                <a:latin typeface="Arial" pitchFamily="34" charset="0"/>
                <a:ea typeface="Arial" pitchFamily="34" charset="-122"/>
                <a:cs typeface="Arial" pitchFamily="34" charset="-120"/>
              </a:rPr>
              <a:t>Grounded corpus</a:t>
            </a:r>
            <a:endParaRPr lang="en-US" sz="1080" dirty="0"/>
          </a:p>
        </p:txBody>
      </p:sp>
      <p:sp>
        <p:nvSpPr>
          <p:cNvPr id="9" name="Text 7"/>
          <p:cNvSpPr/>
          <p:nvPr/>
        </p:nvSpPr>
        <p:spPr>
          <a:xfrm>
            <a:off x="603504" y="1737360"/>
            <a:ext cx="2286000" cy="1024128"/>
          </a:xfrm>
          <a:prstGeom prst="rect">
            <a:avLst/>
          </a:prstGeom>
          <a:noFill/>
          <a:ln/>
        </p:spPr>
        <p:txBody>
          <a:bodyPr wrap="square" lIns="0" tIns="0" rIns="0" bIns="0" rtlCol="0" anchor="t"/>
          <a:lstStyle/>
          <a:p>
            <a:pPr indent="0" marL="0">
              <a:buNone/>
            </a:pPr>
            <a:r>
              <a:rPr lang="en-US" sz="920" dirty="0">
                <a:solidFill>
                  <a:srgbClr val="16243D"/>
                </a:solidFill>
                <a:latin typeface="Arial" pitchFamily="34" charset="0"/>
                <a:ea typeface="Arial" pitchFamily="34" charset="-122"/>
                <a:cs typeface="Arial" pitchFamily="34" charset="-120"/>
              </a:rPr>
              <a:t>The agent cannot state a premium, return or fee it didn't retrieve. Every figure cited to the RAG corpus.</a:t>
            </a:r>
            <a:endParaRPr lang="en-US" sz="920" dirty="0"/>
          </a:p>
        </p:txBody>
      </p:sp>
      <p:sp>
        <p:nvSpPr>
          <p:cNvPr id="10" name="Shape 8"/>
          <p:cNvSpPr/>
          <p:nvPr/>
        </p:nvSpPr>
        <p:spPr>
          <a:xfrm>
            <a:off x="3154680" y="1280160"/>
            <a:ext cx="2560320" cy="1554480"/>
          </a:xfrm>
          <a:prstGeom prst="roundRect">
            <a:avLst>
              <a:gd name="adj" fmla="val 4118"/>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11" name="Shape 9"/>
          <p:cNvSpPr/>
          <p:nvPr/>
        </p:nvSpPr>
        <p:spPr>
          <a:xfrm>
            <a:off x="3291840" y="1399032"/>
            <a:ext cx="274320" cy="274320"/>
          </a:xfrm>
          <a:prstGeom prst="ellipse">
            <a:avLst/>
          </a:prstGeom>
          <a:solidFill>
            <a:srgbClr val="3D8BFF"/>
          </a:solidFill>
          <a:ln/>
        </p:spPr>
        <p:txBody>
          <a:bodyPr/>
          <a:p/>
        </p:txBody>
      </p:sp>
      <p:sp>
        <p:nvSpPr>
          <p:cNvPr id="12" name="Text 10"/>
          <p:cNvSpPr/>
          <p:nvPr/>
        </p:nvSpPr>
        <p:spPr>
          <a:xfrm>
            <a:off x="3246120" y="1380744"/>
            <a:ext cx="3657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3" name="Text 11"/>
          <p:cNvSpPr/>
          <p:nvPr/>
        </p:nvSpPr>
        <p:spPr>
          <a:xfrm>
            <a:off x="3648456" y="1399032"/>
            <a:ext cx="1965960" cy="274320"/>
          </a:xfrm>
          <a:prstGeom prst="rect">
            <a:avLst/>
          </a:prstGeom>
          <a:noFill/>
          <a:ln/>
        </p:spPr>
        <p:txBody>
          <a:bodyPr wrap="square" lIns="0" tIns="0" rIns="0" bIns="0" rtlCol="0" anchor="ctr"/>
          <a:lstStyle/>
          <a:p>
            <a:pPr indent="0" marL="0">
              <a:buNone/>
            </a:pPr>
            <a:r>
              <a:rPr lang="en-US" sz="1080" b="1" dirty="0">
                <a:solidFill>
                  <a:srgbClr val="0B1F3A"/>
                </a:solidFill>
                <a:latin typeface="Arial" pitchFamily="34" charset="0"/>
                <a:ea typeface="Arial" pitchFamily="34" charset="-122"/>
                <a:cs typeface="Arial" pitchFamily="34" charset="-120"/>
              </a:rPr>
              <a:t>“Why am I seeing this?”</a:t>
            </a:r>
            <a:endParaRPr lang="en-US" sz="1080" dirty="0"/>
          </a:p>
        </p:txBody>
      </p:sp>
      <p:sp>
        <p:nvSpPr>
          <p:cNvPr id="14" name="Text 12"/>
          <p:cNvSpPr/>
          <p:nvPr/>
        </p:nvSpPr>
        <p:spPr>
          <a:xfrm>
            <a:off x="3300984" y="1737360"/>
            <a:ext cx="2286000" cy="1024128"/>
          </a:xfrm>
          <a:prstGeom prst="rect">
            <a:avLst/>
          </a:prstGeom>
          <a:noFill/>
          <a:ln/>
        </p:spPr>
        <p:txBody>
          <a:bodyPr wrap="square" lIns="0" tIns="0" rIns="0" bIns="0" rtlCol="0" anchor="t"/>
          <a:lstStyle/>
          <a:p>
            <a:pPr indent="0" marL="0">
              <a:buNone/>
            </a:pPr>
            <a:r>
              <a:rPr lang="en-US" sz="920" dirty="0">
                <a:solidFill>
                  <a:srgbClr val="16243D"/>
                </a:solidFill>
                <a:latin typeface="Arial" pitchFamily="34" charset="0"/>
                <a:ea typeface="Arial" pitchFamily="34" charset="-122"/>
                <a:cs typeface="Arial" pitchFamily="34" charset="-120"/>
              </a:rPr>
              <a:t>The explainability card: the trigger, the honest math incl. charges, exactly which data was used — and what's NOT covered.</a:t>
            </a:r>
            <a:endParaRPr lang="en-US" sz="920" dirty="0"/>
          </a:p>
        </p:txBody>
      </p:sp>
      <p:sp>
        <p:nvSpPr>
          <p:cNvPr id="15" name="Shape 13"/>
          <p:cNvSpPr/>
          <p:nvPr/>
        </p:nvSpPr>
        <p:spPr>
          <a:xfrm>
            <a:off x="457200" y="2944368"/>
            <a:ext cx="2560320" cy="1554480"/>
          </a:xfrm>
          <a:prstGeom prst="roundRect">
            <a:avLst>
              <a:gd name="adj" fmla="val 4118"/>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16" name="Shape 14"/>
          <p:cNvSpPr/>
          <p:nvPr/>
        </p:nvSpPr>
        <p:spPr>
          <a:xfrm>
            <a:off x="594360" y="3063240"/>
            <a:ext cx="274320" cy="274320"/>
          </a:xfrm>
          <a:prstGeom prst="ellipse">
            <a:avLst/>
          </a:prstGeom>
          <a:solidFill>
            <a:srgbClr val="0FB98A"/>
          </a:solidFill>
          <a:ln/>
        </p:spPr>
        <p:txBody>
          <a:bodyPr/>
          <a:p/>
        </p:txBody>
      </p:sp>
      <p:sp>
        <p:nvSpPr>
          <p:cNvPr id="17" name="Text 15"/>
          <p:cNvSpPr/>
          <p:nvPr/>
        </p:nvSpPr>
        <p:spPr>
          <a:xfrm>
            <a:off x="548640" y="3044952"/>
            <a:ext cx="3657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8" name="Text 16"/>
          <p:cNvSpPr/>
          <p:nvPr/>
        </p:nvSpPr>
        <p:spPr>
          <a:xfrm>
            <a:off x="950976" y="3063240"/>
            <a:ext cx="1965960" cy="274320"/>
          </a:xfrm>
          <a:prstGeom prst="rect">
            <a:avLst/>
          </a:prstGeom>
          <a:noFill/>
          <a:ln/>
        </p:spPr>
        <p:txBody>
          <a:bodyPr wrap="square" lIns="0" tIns="0" rIns="0" bIns="0" rtlCol="0" anchor="ctr"/>
          <a:lstStyle/>
          <a:p>
            <a:pPr indent="0" marL="0">
              <a:buNone/>
            </a:pPr>
            <a:r>
              <a:rPr lang="en-US" sz="1080" b="1" dirty="0">
                <a:solidFill>
                  <a:srgbClr val="0B1F3A"/>
                </a:solidFill>
                <a:latin typeface="Arial" pitchFamily="34" charset="0"/>
                <a:ea typeface="Arial" pitchFamily="34" charset="-122"/>
                <a:cs typeface="Arial" pitchFamily="34" charset="-120"/>
              </a:rPr>
              <a:t>The do-nothing baseline</a:t>
            </a:r>
            <a:endParaRPr lang="en-US" sz="1080" dirty="0"/>
          </a:p>
        </p:txBody>
      </p:sp>
      <p:sp>
        <p:nvSpPr>
          <p:cNvPr id="19" name="Text 17"/>
          <p:cNvSpPr/>
          <p:nvPr/>
        </p:nvSpPr>
        <p:spPr>
          <a:xfrm>
            <a:off x="603504" y="3401568"/>
            <a:ext cx="2286000" cy="1024128"/>
          </a:xfrm>
          <a:prstGeom prst="rect">
            <a:avLst/>
          </a:prstGeom>
          <a:noFill/>
          <a:ln/>
        </p:spPr>
        <p:txBody>
          <a:bodyPr wrap="square" lIns="0" tIns="0" rIns="0" bIns="0" rtlCol="0" anchor="t"/>
          <a:lstStyle/>
          <a:p>
            <a:pPr indent="0" marL="0">
              <a:buNone/>
            </a:pPr>
            <a:r>
              <a:rPr lang="en-US" sz="920" dirty="0">
                <a:solidFill>
                  <a:srgbClr val="16243D"/>
                </a:solidFill>
                <a:latin typeface="Arial" pitchFamily="34" charset="0"/>
                <a:ea typeface="Arial" pitchFamily="34" charset="-122"/>
                <a:cs typeface="Arial" pitchFamily="34" charset="-120"/>
              </a:rPr>
              <a:t>Every comparison includes an honest “Do nothing” column. When doing nothing wins, Diya says so — and stands down.</a:t>
            </a:r>
            <a:endParaRPr lang="en-US" sz="920" dirty="0"/>
          </a:p>
        </p:txBody>
      </p:sp>
      <p:sp>
        <p:nvSpPr>
          <p:cNvPr id="20" name="Shape 18"/>
          <p:cNvSpPr/>
          <p:nvPr/>
        </p:nvSpPr>
        <p:spPr>
          <a:xfrm>
            <a:off x="3154680" y="2944368"/>
            <a:ext cx="2560320" cy="1554480"/>
          </a:xfrm>
          <a:prstGeom prst="roundRect">
            <a:avLst>
              <a:gd name="adj" fmla="val 4118"/>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21" name="Shape 19"/>
          <p:cNvSpPr/>
          <p:nvPr/>
        </p:nvSpPr>
        <p:spPr>
          <a:xfrm>
            <a:off x="3291840" y="3063240"/>
            <a:ext cx="274320" cy="274320"/>
          </a:xfrm>
          <a:prstGeom prst="ellipse">
            <a:avLst/>
          </a:prstGeom>
          <a:solidFill>
            <a:srgbClr val="E8930C"/>
          </a:solidFill>
          <a:ln/>
        </p:spPr>
        <p:txBody>
          <a:bodyPr/>
          <a:p/>
        </p:txBody>
      </p:sp>
      <p:sp>
        <p:nvSpPr>
          <p:cNvPr id="22" name="Text 20"/>
          <p:cNvSpPr/>
          <p:nvPr/>
        </p:nvSpPr>
        <p:spPr>
          <a:xfrm>
            <a:off x="3246120" y="3044952"/>
            <a:ext cx="3657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3648456" y="3063240"/>
            <a:ext cx="1965960" cy="274320"/>
          </a:xfrm>
          <a:prstGeom prst="rect">
            <a:avLst/>
          </a:prstGeom>
          <a:noFill/>
          <a:ln/>
        </p:spPr>
        <p:txBody>
          <a:bodyPr wrap="square" lIns="0" tIns="0" rIns="0" bIns="0" rtlCol="0" anchor="ctr"/>
          <a:lstStyle/>
          <a:p>
            <a:pPr indent="0" marL="0">
              <a:buNone/>
            </a:pPr>
            <a:r>
              <a:rPr lang="en-US" sz="1080" b="1" dirty="0">
                <a:solidFill>
                  <a:srgbClr val="0B1F3A"/>
                </a:solidFill>
                <a:latin typeface="Arial" pitchFamily="34" charset="0"/>
                <a:ea typeface="Arial" pitchFamily="34" charset="-122"/>
                <a:cs typeface="Arial" pitchFamily="34" charset="-120"/>
              </a:rPr>
              <a:t>Devil's advocate agent</a:t>
            </a:r>
            <a:endParaRPr lang="en-US" sz="1080" dirty="0"/>
          </a:p>
        </p:txBody>
      </p:sp>
      <p:sp>
        <p:nvSpPr>
          <p:cNvPr id="24" name="Text 22"/>
          <p:cNvSpPr/>
          <p:nvPr/>
        </p:nvSpPr>
        <p:spPr>
          <a:xfrm>
            <a:off x="3300984" y="3401568"/>
            <a:ext cx="2286000" cy="1024128"/>
          </a:xfrm>
          <a:prstGeom prst="rect">
            <a:avLst/>
          </a:prstGeom>
          <a:noFill/>
          <a:ln/>
        </p:spPr>
        <p:txBody>
          <a:bodyPr wrap="square" lIns="0" tIns="0" rIns="0" bIns="0" rtlCol="0" anchor="t"/>
          <a:lstStyle/>
          <a:p>
            <a:pPr indent="0" marL="0">
              <a:buNone/>
            </a:pPr>
            <a:r>
              <a:rPr lang="en-US" sz="920" dirty="0">
                <a:solidFill>
                  <a:srgbClr val="16243D"/>
                </a:solidFill>
                <a:latin typeface="Arial" pitchFamily="34" charset="0"/>
                <a:ea typeface="Arial" pitchFamily="34" charset="-122"/>
                <a:cs typeface="Arial" pitchFamily="34" charset="-120"/>
              </a:rPr>
              <a:t>A second, adversarial LLM argues AGAINST every recommendation before it's shown. Strong objections suppress the nudge; the ones it survives are printed on the card.</a:t>
            </a:r>
            <a:endParaRPr lang="en-US" sz="920" dirty="0"/>
          </a:p>
        </p:txBody>
      </p:sp>
      <p:sp>
        <p:nvSpPr>
          <p:cNvPr id="25" name="Shape 23"/>
          <p:cNvSpPr/>
          <p:nvPr/>
        </p:nvSpPr>
        <p:spPr>
          <a:xfrm>
            <a:off x="5989320" y="1280160"/>
            <a:ext cx="2697480" cy="3218688"/>
          </a:xfrm>
          <a:prstGeom prst="roundRect">
            <a:avLst>
              <a:gd name="adj" fmla="val 2034"/>
            </a:avLst>
          </a:prstGeom>
          <a:solidFill>
            <a:srgbClr val="F4F6FB"/>
          </a:solidFill>
          <a:ln w="15875">
            <a:noFill/>
            <a:prstDash val="dash"/>
          </a:ln>
        </p:spPr>
        <p:txBody>
          <a:bodyPr/>
          <a:p/>
        </p:txBody>
      </p:sp>
      <p:sp>
        <p:nvSpPr>
          <p:cNvPr id="27" name="Text 25"/>
          <p:cNvSpPr/>
          <p:nvPr/>
        </p:nvSpPr>
        <p:spPr>
          <a:xfrm>
            <a:off x="457200" y="4590288"/>
            <a:ext cx="8229600" cy="256032"/>
          </a:xfrm>
          <a:prstGeom prst="rect">
            <a:avLst/>
          </a:prstGeom>
          <a:noFill/>
          <a:ln/>
        </p:spPr>
        <p:txBody>
          <a:bodyPr wrap="square" lIns="0" tIns="0" rIns="0" bIns="0" rtlCol="0" anchor="ctr"/>
          <a:lstStyle/>
          <a:p>
            <a:pPr indent="0" marL="0">
              <a:buNone/>
            </a:pPr>
            <a:r>
              <a:rPr lang="en-US" sz="1050" i="1" dirty="0">
                <a:solidFill>
                  <a:srgbClr val="5B6B84"/>
                </a:solidFill>
                <a:latin typeface="Arial" pitchFamily="34" charset="0"/>
                <a:ea typeface="Arial" pitchFamily="34" charset="-122"/>
                <a:cs typeface="Arial" pitchFamily="34" charset="-120"/>
              </a:rPr>
              <a:t>Multi-agent adversarial reasoning, made user-visible: honesty by construction, not by copywriting.</a:t>
            </a:r>
            <a:endParaRPr lang="en-US" sz="1050" dirty="0"/>
          </a:p>
        </p:txBody>
      </p:sp>
      <p:pic>
        <p:nvPicPr>
          <p:cNvPr id="28" name="Picture 27" descr="deck_s8.png"/>
          <p:cNvPicPr>
            <a:picLocks noChangeAspect="1"/>
          </p:cNvPicPr>
          <p:nvPr/>
        </p:nvPicPr>
        <p:blipFill>
          <a:blip r:embed="rId3"/>
          <a:stretch>
            <a:fillRect/>
          </a:stretch>
        </p:blipFill>
        <p:spPr>
          <a:xfrm>
            <a:off x="6162827" y="1527653"/>
            <a:ext cx="2350465" cy="27237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9</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AGENTIC RESTRAINT</a:t>
            </a:r>
            <a:endParaRPr lang="en-US" sz="1050" dirty="0"/>
          </a:p>
        </p:txBody>
      </p:sp>
      <p:sp>
        <p:nvSpPr>
          <p:cNvPr id="4" name="Text 2"/>
          <p:cNvSpPr/>
          <p:nvPr/>
        </p:nvSpPr>
        <p:spPr>
          <a:xfrm>
            <a:off x="457200" y="457200"/>
            <a:ext cx="8229600" cy="41148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Four interruptions a month. A veto on every nudge. Silence is a decision.</a:t>
            </a:r>
            <a:endParaRPr lang="en-US" sz="2300" dirty="0"/>
          </a:p>
        </p:txBody>
      </p:sp>
      <p:sp>
        <p:nvSpPr>
          <p:cNvPr id="5" name="Shape 3"/>
          <p:cNvSpPr/>
          <p:nvPr/>
        </p:nvSpPr>
        <p:spPr>
          <a:xfrm>
            <a:off x="457200" y="1280160"/>
            <a:ext cx="2679192" cy="2331720"/>
          </a:xfrm>
          <a:prstGeom prst="roundRect">
            <a:avLst>
              <a:gd name="adj" fmla="val 2745"/>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6" name="Text 4"/>
          <p:cNvSpPr/>
          <p:nvPr/>
        </p:nvSpPr>
        <p:spPr>
          <a:xfrm>
            <a:off x="621792" y="1426464"/>
            <a:ext cx="2377440" cy="256032"/>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Attention budget</a:t>
            </a:r>
            <a:endParaRPr lang="en-US" sz="1150" dirty="0"/>
          </a:p>
        </p:txBody>
      </p:sp>
      <p:sp>
        <p:nvSpPr>
          <p:cNvPr id="7" name="Shape 5"/>
          <p:cNvSpPr/>
          <p:nvPr/>
        </p:nvSpPr>
        <p:spPr>
          <a:xfrm>
            <a:off x="640080" y="1773936"/>
            <a:ext cx="256032" cy="256032"/>
          </a:xfrm>
          <a:prstGeom prst="ellipse">
            <a:avLst/>
          </a:prstGeom>
          <a:solidFill>
            <a:srgbClr val="0FB98A"/>
          </a:solidFill>
          <a:ln w="15875">
            <a:solidFill>
              <a:srgbClr val="0FB98A"/>
            </a:solidFill>
            <a:prstDash val="solid"/>
          </a:ln>
        </p:spPr>
        <p:txBody>
          <a:bodyPr/>
          <a:p/>
        </p:txBody>
      </p:sp>
      <p:sp>
        <p:nvSpPr>
          <p:cNvPr id="8" name="Shape 6"/>
          <p:cNvSpPr/>
          <p:nvPr/>
        </p:nvSpPr>
        <p:spPr>
          <a:xfrm>
            <a:off x="1024128" y="1773936"/>
            <a:ext cx="256032" cy="256032"/>
          </a:xfrm>
          <a:prstGeom prst="ellipse">
            <a:avLst/>
          </a:prstGeom>
          <a:solidFill>
            <a:srgbClr val="0FB98A"/>
          </a:solidFill>
          <a:ln w="15875">
            <a:solidFill>
              <a:srgbClr val="0FB98A"/>
            </a:solidFill>
            <a:prstDash val="solid"/>
          </a:ln>
        </p:spPr>
        <p:txBody>
          <a:bodyPr/>
          <a:p/>
        </p:txBody>
      </p:sp>
      <p:sp>
        <p:nvSpPr>
          <p:cNvPr id="9" name="Shape 7"/>
          <p:cNvSpPr/>
          <p:nvPr/>
        </p:nvSpPr>
        <p:spPr>
          <a:xfrm>
            <a:off x="1408176" y="1773936"/>
            <a:ext cx="256032" cy="256032"/>
          </a:xfrm>
          <a:prstGeom prst="ellipse">
            <a:avLst/>
          </a:prstGeom>
          <a:solidFill>
            <a:srgbClr val="FFFFFF"/>
          </a:solidFill>
          <a:ln w="15875">
            <a:solidFill>
              <a:srgbClr val="B9C6DA"/>
            </a:solidFill>
            <a:prstDash val="solid"/>
          </a:ln>
        </p:spPr>
        <p:txBody>
          <a:bodyPr/>
          <a:p/>
        </p:txBody>
      </p:sp>
      <p:sp>
        <p:nvSpPr>
          <p:cNvPr id="10" name="Shape 8"/>
          <p:cNvSpPr/>
          <p:nvPr/>
        </p:nvSpPr>
        <p:spPr>
          <a:xfrm>
            <a:off x="1792224" y="1773936"/>
            <a:ext cx="256032" cy="256032"/>
          </a:xfrm>
          <a:prstGeom prst="ellipse">
            <a:avLst/>
          </a:prstGeom>
          <a:solidFill>
            <a:srgbClr val="FFFFFF"/>
          </a:solidFill>
          <a:ln w="15875">
            <a:solidFill>
              <a:srgbClr val="B9C6DA"/>
            </a:solidFill>
            <a:prstDash val="solid"/>
          </a:ln>
        </p:spPr>
        <p:txBody>
          <a:bodyPr/>
          <a:p/>
        </p:txBody>
      </p:sp>
      <p:sp>
        <p:nvSpPr>
          <p:cNvPr id="11" name="Text 9"/>
          <p:cNvSpPr/>
          <p:nvPr/>
        </p:nvSpPr>
        <p:spPr>
          <a:xfrm>
            <a:off x="621792" y="2084832"/>
            <a:ext cx="2377440" cy="219456"/>
          </a:xfrm>
          <a:prstGeom prst="rect">
            <a:avLst/>
          </a:prstGeom>
          <a:noFill/>
          <a:ln/>
        </p:spPr>
        <p:txBody>
          <a:bodyPr wrap="square" lIns="0" tIns="0" rIns="0" bIns="0" rtlCol="0" anchor="ctr"/>
          <a:lstStyle/>
          <a:p>
            <a:pPr indent="0" marL="0">
              <a:buNone/>
            </a:pPr>
            <a:r>
              <a:rPr lang="en-US" sz="880" i="1" dirty="0">
                <a:solidFill>
                  <a:srgbClr val="5B6B84"/>
                </a:solidFill>
                <a:latin typeface="Arial" pitchFamily="34" charset="0"/>
                <a:ea typeface="Arial" pitchFamily="34" charset="-122"/>
                <a:cs typeface="Arial" pitchFamily="34" charset="-120"/>
              </a:rPr>
              <a:t>2 of 4 spent this month</a:t>
            </a:r>
            <a:endParaRPr lang="en-US" sz="880" dirty="0"/>
          </a:p>
        </p:txBody>
      </p:sp>
      <p:sp>
        <p:nvSpPr>
          <p:cNvPr id="12" name="Text 10"/>
          <p:cNvSpPr/>
          <p:nvPr/>
        </p:nvSpPr>
        <p:spPr>
          <a:xfrm>
            <a:off x="621792" y="2340864"/>
            <a:ext cx="2377440" cy="1188720"/>
          </a:xfrm>
          <a:prstGeom prst="rect">
            <a:avLst/>
          </a:prstGeom>
          <a:noFill/>
          <a:ln/>
        </p:spPr>
        <p:txBody>
          <a:bodyPr wrap="square" lIns="0" tIns="0" rIns="0" bIns="0" rtlCol="0" anchor="ctr"/>
          <a:lstStyle/>
          <a:p>
            <a:pPr indent="0" marL="0">
              <a:buNone/>
            </a:pPr>
            <a:r>
              <a:rPr lang="en-US" sz="920" dirty="0">
                <a:solidFill>
                  <a:srgbClr val="16243D"/>
                </a:solidFill>
                <a:latin typeface="Arial" pitchFamily="34" charset="0"/>
                <a:ea typeface="Arial" pitchFamily="34" charset="-122"/>
                <a:cs typeface="Arial" pitchFamily="34" charset="-120"/>
              </a:rPr>
              <a:t>A hard cap of 4 interruptions per user per month — spent visibly in the UI. The agent must decide what deserves your attention, and users can watch it choose.</a:t>
            </a:r>
            <a:endParaRPr lang="en-US" sz="920" dirty="0"/>
          </a:p>
        </p:txBody>
      </p:sp>
      <p:sp>
        <p:nvSpPr>
          <p:cNvPr id="13" name="Shape 11"/>
          <p:cNvSpPr/>
          <p:nvPr/>
        </p:nvSpPr>
        <p:spPr>
          <a:xfrm>
            <a:off x="3227832" y="1280160"/>
            <a:ext cx="2679192" cy="2331720"/>
          </a:xfrm>
          <a:prstGeom prst="roundRect">
            <a:avLst>
              <a:gd name="adj" fmla="val 2745"/>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14" name="Shape 12"/>
          <p:cNvSpPr/>
          <p:nvPr/>
        </p:nvSpPr>
        <p:spPr>
          <a:xfrm>
            <a:off x="3392424" y="1426464"/>
            <a:ext cx="274320" cy="274320"/>
          </a:xfrm>
          <a:prstGeom prst="ellipse">
            <a:avLst/>
          </a:prstGeom>
          <a:solidFill>
            <a:srgbClr val="E8930C"/>
          </a:solidFill>
          <a:ln/>
        </p:spPr>
        <p:txBody>
          <a:bodyPr/>
          <a:p/>
        </p:txBody>
      </p:sp>
      <p:sp>
        <p:nvSpPr>
          <p:cNvPr id="15" name="Text 13"/>
          <p:cNvSpPr/>
          <p:nvPr/>
        </p:nvSpPr>
        <p:spPr>
          <a:xfrm>
            <a:off x="3346704" y="1408176"/>
            <a:ext cx="3657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6" name="Text 14"/>
          <p:cNvSpPr/>
          <p:nvPr/>
        </p:nvSpPr>
        <p:spPr>
          <a:xfrm>
            <a:off x="3758184" y="1426464"/>
            <a:ext cx="2057400" cy="27432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Adversarial veto</a:t>
            </a:r>
            <a:endParaRPr lang="en-US" sz="1150" dirty="0"/>
          </a:p>
        </p:txBody>
      </p:sp>
      <p:sp>
        <p:nvSpPr>
          <p:cNvPr id="17" name="Text 15"/>
          <p:cNvSpPr/>
          <p:nvPr/>
        </p:nvSpPr>
        <p:spPr>
          <a:xfrm>
            <a:off x="3392424" y="1810512"/>
            <a:ext cx="2377440" cy="1691640"/>
          </a:xfrm>
          <a:prstGeom prst="rect">
            <a:avLst/>
          </a:prstGeom>
          <a:noFill/>
          <a:ln/>
        </p:spPr>
        <p:txBody>
          <a:bodyPr wrap="square" lIns="0" tIns="0" rIns="0" bIns="0" rtlCol="0" anchor="ctr"/>
          <a:lstStyle/>
          <a:p>
            <a:pPr indent="0" marL="0">
              <a:buNone/>
            </a:pPr>
            <a:r>
              <a:rPr lang="en-US" sz="920" dirty="0">
                <a:solidFill>
                  <a:srgbClr val="16243D"/>
                </a:solidFill>
                <a:latin typeface="Arial" pitchFamily="34" charset="0"/>
                <a:ea typeface="Arial" pitchFamily="34" charset="-122"/>
                <a:cs typeface="Arial" pitchFamily="34" charset="-120"/>
              </a:rPr>
              <a:t>Strong devil's-advocate objections kill a nudge before the user ever sees it; weak ones ride along on the explainability card. Suppression is logged like any other decision — auditable restraint.</a:t>
            </a:r>
            <a:endParaRPr lang="en-US" sz="920" dirty="0"/>
          </a:p>
        </p:txBody>
      </p:sp>
      <p:sp>
        <p:nvSpPr>
          <p:cNvPr id="18" name="Shape 16"/>
          <p:cNvSpPr/>
          <p:nvPr/>
        </p:nvSpPr>
        <p:spPr>
          <a:xfrm>
            <a:off x="6007608" y="1280160"/>
            <a:ext cx="2679192" cy="2331720"/>
          </a:xfrm>
          <a:prstGeom prst="roundRect">
            <a:avLst>
              <a:gd name="adj" fmla="val 2745"/>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19" name="Shape 17"/>
          <p:cNvSpPr/>
          <p:nvPr/>
        </p:nvSpPr>
        <p:spPr>
          <a:xfrm>
            <a:off x="6172200" y="1426464"/>
            <a:ext cx="274320" cy="274320"/>
          </a:xfrm>
          <a:prstGeom prst="ellipse">
            <a:avLst/>
          </a:prstGeom>
          <a:solidFill>
            <a:srgbClr val="1755C4"/>
          </a:solidFill>
          <a:ln/>
        </p:spPr>
        <p:txBody>
          <a:bodyPr/>
          <a:p/>
        </p:txBody>
      </p:sp>
      <p:sp>
        <p:nvSpPr>
          <p:cNvPr id="20" name="Text 18"/>
          <p:cNvSpPr/>
          <p:nvPr/>
        </p:nvSpPr>
        <p:spPr>
          <a:xfrm>
            <a:off x="6126480" y="1408176"/>
            <a:ext cx="3657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6537960" y="1426464"/>
            <a:ext cx="2057400" cy="27432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Mission Control</a:t>
            </a:r>
            <a:endParaRPr lang="en-US" sz="1150" dirty="0"/>
          </a:p>
        </p:txBody>
      </p:sp>
      <p:sp>
        <p:nvSpPr>
          <p:cNvPr id="22" name="Text 20"/>
          <p:cNvSpPr/>
          <p:nvPr/>
        </p:nvSpPr>
        <p:spPr>
          <a:xfrm>
            <a:off x="6172200" y="1810512"/>
            <a:ext cx="2377440" cy="1691640"/>
          </a:xfrm>
          <a:prstGeom prst="rect">
            <a:avLst/>
          </a:prstGeom>
          <a:noFill/>
          <a:ln/>
        </p:spPr>
        <p:txBody>
          <a:bodyPr wrap="square" lIns="0" tIns="0" rIns="0" bIns="0" rtlCol="0" anchor="ctr"/>
          <a:lstStyle/>
          <a:p>
            <a:pPr indent="0" marL="0">
              <a:buNone/>
            </a:pPr>
            <a:r>
              <a:rPr lang="en-US" sz="920" dirty="0">
                <a:solidFill>
                  <a:srgbClr val="16243D"/>
                </a:solidFill>
                <a:latin typeface="Arial" pitchFamily="34" charset="0"/>
                <a:ea typeface="Arial" pitchFamily="34" charset="-122"/>
                <a:cs typeface="Arial" pitchFamily="34" charset="-120"/>
              </a:rPr>
              <a:t>Watch the loop sweep the whole base and hold back where the moment isn't right: “Swept 5 users · 3 nudged · 2 held back — autonomously.” Cooldowns after a skip; one discovery nudge at a time.</a:t>
            </a:r>
            <a:endParaRPr lang="en-US" sz="920" dirty="0"/>
          </a:p>
        </p:txBody>
      </p:sp>
      <p:sp>
        <p:nvSpPr>
          <p:cNvPr id="23" name="Shape 21"/>
          <p:cNvSpPr/>
          <p:nvPr/>
        </p:nvSpPr>
        <p:spPr>
          <a:xfrm>
            <a:off x="457200" y="3767328"/>
            <a:ext cx="8229600" cy="1005840"/>
          </a:xfrm>
          <a:prstGeom prst="roundRect">
            <a:avLst>
              <a:gd name="adj" fmla="val 5455"/>
            </a:avLst>
          </a:prstGeom>
          <a:solidFill>
            <a:srgbClr val="F4F6FB"/>
          </a:solidFill>
          <a:ln w="15875">
            <a:noFill/>
            <a:prstDash val="dash"/>
          </a:ln>
        </p:spPr>
        <p:txBody>
          <a:bodyPr/>
          <a:p/>
        </p:txBody>
      </p:sp>
      <p:pic>
        <p:nvPicPr>
          <p:cNvPr id="25" name="Picture 24" descr="deck_s9.png"/>
          <p:cNvPicPr>
            <a:picLocks noChangeAspect="1"/>
          </p:cNvPicPr>
          <p:nvPr/>
        </p:nvPicPr>
        <p:blipFill>
          <a:blip r:embed="rId3"/>
          <a:stretch>
            <a:fillRect/>
          </a:stretch>
        </p:blipFill>
        <p:spPr>
          <a:xfrm>
            <a:off x="2640787" y="3782415"/>
            <a:ext cx="3862425" cy="9756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10</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INCLUSION &amp; PROTECTION</a:t>
            </a:r>
            <a:endParaRPr lang="en-US" sz="1050" dirty="0"/>
          </a:p>
        </p:txBody>
      </p:sp>
      <p:sp>
        <p:nvSpPr>
          <p:cNvPr id="4" name="Text 2"/>
          <p:cNvSpPr/>
          <p:nvPr/>
        </p:nvSpPr>
        <p:spPr>
          <a:xfrm>
            <a:off x="457200" y="457200"/>
            <a:ext cx="8229600" cy="41148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Built for Bharat — vernacular, voice, and a family safety net.</a:t>
            </a:r>
            <a:endParaRPr lang="en-US" sz="2300" dirty="0"/>
          </a:p>
        </p:txBody>
      </p:sp>
      <p:sp>
        <p:nvSpPr>
          <p:cNvPr id="5" name="Shape 3"/>
          <p:cNvSpPr/>
          <p:nvPr/>
        </p:nvSpPr>
        <p:spPr>
          <a:xfrm>
            <a:off x="457200" y="1280160"/>
            <a:ext cx="4069080" cy="1645920"/>
          </a:xfrm>
          <a:prstGeom prst="roundRect">
            <a:avLst>
              <a:gd name="adj" fmla="val 3889"/>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6" name="Text 4"/>
          <p:cNvSpPr/>
          <p:nvPr/>
        </p:nvSpPr>
        <p:spPr>
          <a:xfrm>
            <a:off x="621792" y="1408176"/>
            <a:ext cx="3749040" cy="256032"/>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Vernacular + voice by default</a:t>
            </a:r>
            <a:endParaRPr lang="en-US" sz="1150" dirty="0"/>
          </a:p>
        </p:txBody>
      </p:sp>
      <p:sp>
        <p:nvSpPr>
          <p:cNvPr id="7" name="Text 5"/>
          <p:cNvSpPr/>
          <p:nvPr/>
        </p:nvSpPr>
        <p:spPr>
          <a:xfrm>
            <a:off x="621792" y="1719072"/>
            <a:ext cx="3749040" cy="1143000"/>
          </a:xfrm>
          <a:prstGeom prst="rect">
            <a:avLst/>
          </a:prstGeom>
          <a:noFill/>
          <a:ln/>
        </p:spPr>
        <p:txBody>
          <a:bodyPr wrap="square" lIns="0" tIns="0" rIns="0" bIns="0" rtlCol="0" anchor="t"/>
          <a:lstStyle/>
          <a:p>
            <a:pPr marL="127000" indent="-127000">
              <a:lnSpc>
                <a:spcPct val="104000"/>
              </a:lnSpc>
              <a:spcAft>
                <a:spcPts val="600"/>
              </a:spcAft>
              <a:buSzPct val="100000"/>
              <a:buChar char="•"/>
            </a:pPr>
            <a:r>
              <a:rPr lang="en-US" sz="940" dirty="0">
                <a:solidFill>
                  <a:srgbClr val="16243D"/>
                </a:solidFill>
                <a:latin typeface="Arial" pitchFamily="34" charset="0"/>
                <a:ea typeface="Arial" pitchFamily="34" charset="-122"/>
                <a:cs typeface="Arial" pitchFamily="34" charset="-120"/>
              </a:rPr>
              <a:t>EN / हिंदी toggle on every card; nudges read aloud (Web Speech), voice replies (“हाँ, दिखाओ”)</a:t>
            </a:r>
            <a:endParaRPr lang="en-US" sz="940" dirty="0"/>
          </a:p>
          <a:p>
            <a:pPr marL="127000" indent="-127000">
              <a:lnSpc>
                <a:spcPct val="104000"/>
              </a:lnSpc>
              <a:spcAft>
                <a:spcPts val="600"/>
              </a:spcAft>
              <a:buSzPct val="100000"/>
              <a:buChar char="•"/>
            </a:pPr>
            <a:r>
              <a:rPr lang="en-US" sz="940" dirty="0">
                <a:solidFill>
                  <a:srgbClr val="16243D"/>
                </a:solidFill>
                <a:latin typeface="Arial" pitchFamily="34" charset="0"/>
                <a:ea typeface="Arial" pitchFamily="34" charset="-122"/>
                <a:cs typeface="Arial" pitchFamily="34" charset="-120"/>
              </a:rPr>
              <a:t>~35% of Indian women own smartphones; rural UPI preference ~38% — voice-guided discovery is how the other half moves past UPI-only</a:t>
            </a:r>
            <a:endParaRPr lang="en-US" sz="940" dirty="0"/>
          </a:p>
        </p:txBody>
      </p:sp>
      <p:sp>
        <p:nvSpPr>
          <p:cNvPr id="8" name="Shape 6"/>
          <p:cNvSpPr/>
          <p:nvPr/>
        </p:nvSpPr>
        <p:spPr>
          <a:xfrm>
            <a:off x="457200" y="3108960"/>
            <a:ext cx="4069080" cy="1645920"/>
          </a:xfrm>
          <a:prstGeom prst="roundRect">
            <a:avLst>
              <a:gd name="adj" fmla="val 3889"/>
            </a:avLst>
          </a:prstGeom>
          <a:solidFill>
            <a:srgbClr val="E7F8F2"/>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9" name="Text 7"/>
          <p:cNvSpPr/>
          <p:nvPr/>
        </p:nvSpPr>
        <p:spPr>
          <a:xfrm>
            <a:off x="621792" y="3236976"/>
            <a:ext cx="3749040" cy="256032"/>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Guardian / Sahayak co-consent</a:t>
            </a:r>
            <a:endParaRPr lang="en-US" sz="1150" dirty="0"/>
          </a:p>
        </p:txBody>
      </p:sp>
      <p:sp>
        <p:nvSpPr>
          <p:cNvPr id="10" name="Text 8"/>
          <p:cNvSpPr/>
          <p:nvPr/>
        </p:nvSpPr>
        <p:spPr>
          <a:xfrm>
            <a:off x="621792" y="3547872"/>
            <a:ext cx="3749040" cy="1143000"/>
          </a:xfrm>
          <a:prstGeom prst="rect">
            <a:avLst/>
          </a:prstGeom>
          <a:noFill/>
          <a:ln/>
        </p:spPr>
        <p:txBody>
          <a:bodyPr wrap="square" lIns="0" tIns="0" rIns="0" bIns="0" rtlCol="0" anchor="t"/>
          <a:lstStyle/>
          <a:p>
            <a:pPr marL="127000" indent="-127000">
              <a:lnSpc>
                <a:spcPct val="104000"/>
              </a:lnSpc>
              <a:spcAft>
                <a:spcPts val="600"/>
              </a:spcAft>
              <a:buSzPct val="100000"/>
              <a:buChar char="•"/>
            </a:pPr>
            <a:r>
              <a:rPr lang="en-US" sz="940" dirty="0">
                <a:solidFill>
                  <a:srgbClr val="16243D"/>
                </a:solidFill>
                <a:latin typeface="Arial" pitchFamily="34" charset="0"/>
                <a:ea typeface="Arial" pitchFamily="34" charset="-122"/>
                <a:cs typeface="Arial" pitchFamily="34" charset="-120"/>
              </a:rPr>
              <a:t>For elderly &amp; assisted users, any adoption above a set threshold requires a family member's co-approval on a second device before it proceeds</a:t>
            </a:r>
            <a:endParaRPr lang="en-US" sz="940" dirty="0"/>
          </a:p>
          <a:p>
            <a:pPr marL="127000" indent="-127000">
              <a:lnSpc>
                <a:spcPct val="104000"/>
              </a:lnSpc>
              <a:spcAft>
                <a:spcPts val="600"/>
              </a:spcAft>
              <a:buSzPct val="100000"/>
              <a:buChar char="•"/>
            </a:pPr>
            <a:r>
              <a:rPr lang="en-US" sz="940" dirty="0">
                <a:solidFill>
                  <a:srgbClr val="16243D"/>
                </a:solidFill>
                <a:latin typeface="Arial" pitchFamily="34" charset="0"/>
                <a:ea typeface="Arial" pitchFamily="34" charset="-122"/>
                <a:cs typeface="Arial" pitchFamily="34" charset="-120"/>
              </a:rPr>
              <a:t>Built for the duped-pensioner cases that made national news — a mis-sale now needs to fool two people on two devices</a:t>
            </a:r>
            <a:endParaRPr lang="en-US" sz="940" dirty="0"/>
          </a:p>
        </p:txBody>
      </p:sp>
      <p:sp>
        <p:nvSpPr>
          <p:cNvPr id="11" name="Shape 9"/>
          <p:cNvSpPr/>
          <p:nvPr/>
        </p:nvSpPr>
        <p:spPr>
          <a:xfrm>
            <a:off x="4892040" y="1280160"/>
            <a:ext cx="3794760" cy="1645920"/>
          </a:xfrm>
          <a:prstGeom prst="roundRect">
            <a:avLst>
              <a:gd name="adj" fmla="val 3333"/>
            </a:avLst>
          </a:prstGeom>
          <a:solidFill>
            <a:srgbClr val="F4F6FB"/>
          </a:solidFill>
          <a:ln w="15875">
            <a:noFill/>
            <a:prstDash val="dash"/>
          </a:ln>
        </p:spPr>
        <p:txBody>
          <a:bodyPr/>
          <a:p/>
        </p:txBody>
      </p:sp>
      <p:sp>
        <p:nvSpPr>
          <p:cNvPr id="13" name="Shape 11"/>
          <p:cNvSpPr/>
          <p:nvPr/>
        </p:nvSpPr>
        <p:spPr>
          <a:xfrm>
            <a:off x="4892040" y="3108960"/>
            <a:ext cx="3794760" cy="1645920"/>
          </a:xfrm>
          <a:prstGeom prst="roundRect">
            <a:avLst>
              <a:gd name="adj" fmla="val 3333"/>
            </a:avLst>
          </a:prstGeom>
          <a:solidFill>
            <a:srgbClr val="F4F6FB"/>
          </a:solidFill>
          <a:ln w="15875">
            <a:noFill/>
            <a:prstDash val="dash"/>
          </a:ln>
        </p:spPr>
        <p:txBody>
          <a:bodyPr/>
          <a:p/>
        </p:txBody>
      </p:sp>
      <p:sp>
        <p:nvSpPr>
          <p:cNvPr id="15" name="Text 13"/>
          <p:cNvSpPr/>
          <p:nvPr/>
        </p:nvSpPr>
        <p:spPr>
          <a:xfrm>
            <a:off x="457200" y="4873752"/>
            <a:ext cx="5577840" cy="201168"/>
          </a:xfrm>
          <a:prstGeom prst="rect">
            <a:avLst/>
          </a:prstGeom>
          <a:noFill/>
          <a:ln/>
        </p:spPr>
        <p:txBody>
          <a:bodyPr wrap="square" lIns="0" tIns="0" rIns="0" bIns="0" rtlCol="0" anchor="ctr"/>
          <a:lstStyle/>
          <a:p>
            <a:pPr indent="0" marL="0">
              <a:buNone/>
            </a:pPr>
            <a:r>
              <a:rPr lang="en-US" sz="800" dirty="0">
                <a:solidFill>
                  <a:srgbClr val="9AA7BC"/>
                </a:solidFill>
                <a:latin typeface="Arial" pitchFamily="34" charset="0"/>
                <a:ea typeface="Arial" pitchFamily="34" charset="-122"/>
                <a:cs typeface="Arial" pitchFamily="34" charset="-120"/>
              </a:rPr>
              <a:t>Sources: coinlaw.io · 3ieimpact.org (access gaps) · The Wire / Business Standard (pensioner cases)</a:t>
            </a:r>
            <a:endParaRPr lang="en-US" sz="800" dirty="0"/>
          </a:p>
        </p:txBody>
      </p:sp>
      <p:pic>
        <p:nvPicPr>
          <p:cNvPr id="16" name="Picture 15" descr="deck_s10a.png"/>
          <p:cNvPicPr>
            <a:picLocks noChangeAspect="1"/>
          </p:cNvPicPr>
          <p:nvPr/>
        </p:nvPicPr>
        <p:blipFill>
          <a:blip r:embed="rId3"/>
          <a:stretch>
            <a:fillRect/>
          </a:stretch>
        </p:blipFill>
        <p:spPr>
          <a:xfrm>
            <a:off x="5903746" y="1304848"/>
            <a:ext cx="1771346" cy="1596542"/>
          </a:xfrm>
          <a:prstGeom prst="rect">
            <a:avLst/>
          </a:prstGeom>
        </p:spPr>
      </p:pic>
      <p:pic>
        <p:nvPicPr>
          <p:cNvPr id="17" name="Picture 16" descr="deck_s10b.png"/>
          <p:cNvPicPr>
            <a:picLocks noChangeAspect="1"/>
          </p:cNvPicPr>
          <p:nvPr/>
        </p:nvPicPr>
        <p:blipFill>
          <a:blip r:embed="rId4"/>
          <a:stretch>
            <a:fillRect/>
          </a:stretch>
        </p:blipFill>
        <p:spPr>
          <a:xfrm>
            <a:off x="5991148" y="3133648"/>
            <a:ext cx="1596542" cy="15965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11</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TECHNICAL FEASIBILITY</a:t>
            </a:r>
            <a:endParaRPr lang="en-US" sz="1050" dirty="0"/>
          </a:p>
        </p:txBody>
      </p:sp>
      <p:sp>
        <p:nvSpPr>
          <p:cNvPr id="4" name="Text 2"/>
          <p:cNvSpPr/>
          <p:nvPr/>
        </p:nvSpPr>
        <p:spPr>
          <a:xfrm>
            <a:off x="457200" y="457200"/>
            <a:ext cx="8229600" cy="41148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A working prototype: one API key, synthetic data, a real multi-agent loop.</a:t>
            </a:r>
            <a:endParaRPr lang="en-US" sz="2300" dirty="0"/>
          </a:p>
        </p:txBody>
      </p:sp>
      <p:sp>
        <p:nvSpPr>
          <p:cNvPr id="5" name="Shape 3"/>
          <p:cNvSpPr/>
          <p:nvPr/>
        </p:nvSpPr>
        <p:spPr>
          <a:xfrm>
            <a:off x="457200" y="1207008"/>
            <a:ext cx="8229600" cy="658368"/>
          </a:xfrm>
          <a:prstGeom prst="roundRect">
            <a:avLst>
              <a:gd name="adj" fmla="val 9722"/>
            </a:avLst>
          </a:prstGeom>
          <a:solidFill>
            <a:srgbClr val="EAF1FD"/>
          </a:solidFill>
          <a:ln w="9525">
            <a:solidFill>
              <a:srgbClr val="E1E7F0"/>
            </a:solidFill>
            <a:prstDash val="solid"/>
          </a:ln>
        </p:spPr>
        <p:txBody>
          <a:bodyPr/>
          <a:p/>
        </p:txBody>
      </p:sp>
      <p:sp>
        <p:nvSpPr>
          <p:cNvPr id="6" name="Text 4"/>
          <p:cNvSpPr/>
          <p:nvPr/>
        </p:nvSpPr>
        <p:spPr>
          <a:xfrm>
            <a:off x="658368" y="1207008"/>
            <a:ext cx="7863840" cy="658368"/>
          </a:xfrm>
          <a:prstGeom prst="rect">
            <a:avLst/>
          </a:prstGeom>
          <a:noFill/>
          <a:ln/>
        </p:spPr>
        <p:txBody>
          <a:bodyPr wrap="square" lIns="0" tIns="0" rIns="0" bIns="0" rtlCol="0" anchor="ctr"/>
          <a:lstStyle/>
          <a:p>
            <a:pPr indent="0" marL="0">
              <a:buNone/>
            </a:pPr>
            <a:r>
              <a:rPr lang="en-US" sz="1000" b="1" dirty="0">
                <a:solidFill>
                  <a:srgbClr val="0B1F3A"/>
                </a:solidFill>
                <a:latin typeface="Arial" pitchFamily="34" charset="0"/>
                <a:ea typeface="Arial" pitchFamily="34" charset="-122"/>
                <a:cs typeface="Arial" pitchFamily="34" charset="-120"/>
              </a:rPr>
              <a:t>FRONTEND — React + Vite + Tailwind (mocked YONO shell):  </a:t>
            </a:r>
            <a:pPr indent="0" marL="0">
              <a:buNone/>
            </a:pPr>
            <a:r>
              <a:rPr lang="en-US" sz="950" dirty="0">
                <a:solidFill>
                  <a:srgbClr val="16243D"/>
                </a:solidFill>
                <a:latin typeface="Arial" pitchFamily="34" charset="0"/>
                <a:ea typeface="Arial" pitchFamily="34" charset="-122"/>
                <a:cs typeface="Arial" pitchFamily="34" charset="-120"/>
              </a:rPr>
              <a:t>nudge card EN/हिंदी + voice · explainability card · walkthrough coachmarks · consent gate · attention-budget meter · Mission Control + Compliance view</a:t>
            </a:r>
            <a:endParaRPr lang="en-US" sz="1000" dirty="0"/>
          </a:p>
        </p:txBody>
      </p:sp>
      <p:sp>
        <p:nvSpPr>
          <p:cNvPr id="7" name="Shape 5"/>
          <p:cNvSpPr/>
          <p:nvPr/>
        </p:nvSpPr>
        <p:spPr>
          <a:xfrm>
            <a:off x="4572000" y="1865376"/>
            <a:ext cx="0" cy="256032"/>
          </a:xfrm>
          <a:prstGeom prst="line">
            <a:avLst/>
          </a:prstGeom>
          <a:noFill/>
          <a:ln w="19050">
            <a:solidFill>
              <a:srgbClr val="B9C6DA"/>
            </a:solidFill>
            <a:prstDash val="solid"/>
            <a:tailEnd type="arrow"/>
          </a:ln>
        </p:spPr>
        <p:txBody>
          <a:bodyPr/>
          <a:p/>
        </p:txBody>
      </p:sp>
      <p:sp>
        <p:nvSpPr>
          <p:cNvPr id="8" name="Text 6"/>
          <p:cNvSpPr/>
          <p:nvPr/>
        </p:nvSpPr>
        <p:spPr>
          <a:xfrm>
            <a:off x="4709160" y="1856232"/>
            <a:ext cx="1097280" cy="219456"/>
          </a:xfrm>
          <a:prstGeom prst="rect">
            <a:avLst/>
          </a:prstGeom>
          <a:noFill/>
          <a:ln/>
        </p:spPr>
        <p:txBody>
          <a:bodyPr wrap="square" lIns="0" tIns="0" rIns="0" bIns="0" rtlCol="0" anchor="ctr"/>
          <a:lstStyle/>
          <a:p>
            <a:pPr indent="0" marL="0">
              <a:buNone/>
            </a:pPr>
            <a:r>
              <a:rPr lang="en-US" sz="800" dirty="0">
                <a:solidFill>
                  <a:srgbClr val="5B6B84"/>
                </a:solidFill>
                <a:latin typeface="Arial" pitchFamily="34" charset="0"/>
                <a:ea typeface="Arial" pitchFamily="34" charset="-122"/>
                <a:cs typeface="Arial" pitchFamily="34" charset="-120"/>
              </a:rPr>
              <a:t>REST / JSON</a:t>
            </a:r>
            <a:endParaRPr lang="en-US" sz="800" dirty="0"/>
          </a:p>
        </p:txBody>
      </p:sp>
      <p:sp>
        <p:nvSpPr>
          <p:cNvPr id="9" name="Shape 7"/>
          <p:cNvSpPr/>
          <p:nvPr/>
        </p:nvSpPr>
        <p:spPr>
          <a:xfrm>
            <a:off x="457200" y="2157984"/>
            <a:ext cx="8229600" cy="2103120"/>
          </a:xfrm>
          <a:prstGeom prst="roundRect">
            <a:avLst>
              <a:gd name="adj" fmla="val 3043"/>
            </a:avLst>
          </a:prstGeom>
          <a:solidFill>
            <a:srgbClr val="F4F6FB"/>
          </a:solidFill>
          <a:ln w="12700">
            <a:solidFill>
              <a:srgbClr val="C7D2E4"/>
            </a:solidFill>
            <a:prstDash val="solid"/>
          </a:ln>
        </p:spPr>
        <p:txBody>
          <a:bodyPr/>
          <a:p/>
        </p:txBody>
      </p:sp>
      <p:sp>
        <p:nvSpPr>
          <p:cNvPr id="10" name="Text 8"/>
          <p:cNvSpPr/>
          <p:nvPr/>
        </p:nvSpPr>
        <p:spPr>
          <a:xfrm>
            <a:off x="658368" y="2231136"/>
            <a:ext cx="2743200" cy="219456"/>
          </a:xfrm>
          <a:prstGeom prst="rect">
            <a:avLst/>
          </a:prstGeom>
          <a:noFill/>
          <a:ln/>
        </p:spPr>
        <p:txBody>
          <a:bodyPr wrap="square" lIns="0" tIns="0" rIns="0" bIns="0" rtlCol="0" anchor="ctr"/>
          <a:lstStyle/>
          <a:p>
            <a:pPr indent="0" marL="0">
              <a:buNone/>
            </a:pPr>
            <a:r>
              <a:rPr lang="en-US" sz="950" b="1" spc="200" kern="0" dirty="0">
                <a:solidFill>
                  <a:srgbClr val="5B6B84"/>
                </a:solidFill>
                <a:latin typeface="Arial" pitchFamily="34" charset="0"/>
                <a:ea typeface="Arial" pitchFamily="34" charset="-122"/>
                <a:cs typeface="Arial" pitchFamily="34" charset="-120"/>
              </a:rPr>
              <a:t>FASTAPI BACKEND</a:t>
            </a:r>
            <a:endParaRPr lang="en-US" sz="950" dirty="0"/>
          </a:p>
        </p:txBody>
      </p:sp>
      <p:sp>
        <p:nvSpPr>
          <p:cNvPr id="11" name="Shape 9"/>
          <p:cNvSpPr/>
          <p:nvPr/>
        </p:nvSpPr>
        <p:spPr>
          <a:xfrm>
            <a:off x="658368" y="2523744"/>
            <a:ext cx="2487168" cy="749808"/>
          </a:xfrm>
          <a:prstGeom prst="roundRect">
            <a:avLst>
              <a:gd name="adj" fmla="val 6098"/>
            </a:avLst>
          </a:prstGeom>
          <a:solidFill>
            <a:srgbClr val="FFFFFF"/>
          </a:solidFill>
          <a:ln w="9525">
            <a:solidFill>
              <a:srgbClr val="DDE4EF"/>
            </a:solidFill>
            <a:prstDash val="solid"/>
          </a:ln>
        </p:spPr>
        <p:txBody>
          <a:bodyPr/>
          <a:p/>
        </p:txBody>
      </p:sp>
      <p:sp>
        <p:nvSpPr>
          <p:cNvPr id="12" name="Text 10"/>
          <p:cNvSpPr/>
          <p:nvPr/>
        </p:nvSpPr>
        <p:spPr>
          <a:xfrm>
            <a:off x="749808" y="2569464"/>
            <a:ext cx="2304288" cy="676656"/>
          </a:xfrm>
          <a:prstGeom prst="rect">
            <a:avLst/>
          </a:prstGeom>
          <a:noFill/>
          <a:ln/>
        </p:spPr>
        <p:txBody>
          <a:bodyPr wrap="square" lIns="0" tIns="0" rIns="0" bIns="0" rtlCol="0" anchor="t"/>
          <a:lstStyle/>
          <a:p>
            <a:pPr indent="0" marL="0">
              <a:buNone/>
            </a:pPr>
            <a:r>
              <a:rPr lang="en-US" sz="930" b="1" dirty="0">
                <a:solidFill>
                  <a:srgbClr val="1755C4"/>
                </a:solidFill>
                <a:latin typeface="Arial" pitchFamily="34" charset="0"/>
                <a:ea typeface="Arial" pitchFamily="34" charset="-122"/>
                <a:cs typeface="Arial" pitchFamily="34" charset="-120"/>
              </a:rPr>
              <a:t>Trigger Engine</a:t>
            </a:r>
            <a:endParaRPr lang="en-US" sz="930" dirty="0"/>
          </a:p>
          <a:p>
            <a:pPr indent="0" marL="0">
              <a:buNone/>
            </a:pPr>
            <a:r>
              <a:rPr lang="en-US" sz="820" dirty="0">
                <a:solidFill>
                  <a:srgbClr val="16243D"/>
                </a:solidFill>
                <a:latin typeface="Arial" pitchFamily="34" charset="0"/>
                <a:ea typeface="Arial" pitchFamily="34" charset="-122"/>
                <a:cs typeface="Arial" pitchFamily="34" charset="-120"/>
              </a:rPr>
              <a:t>payee classifier · thresholds → adoption moments</a:t>
            </a:r>
            <a:endParaRPr lang="en-US" sz="930" dirty="0"/>
          </a:p>
        </p:txBody>
      </p:sp>
      <p:sp>
        <p:nvSpPr>
          <p:cNvPr id="13" name="Shape 11"/>
          <p:cNvSpPr/>
          <p:nvPr/>
        </p:nvSpPr>
        <p:spPr>
          <a:xfrm>
            <a:off x="3300984" y="2523744"/>
            <a:ext cx="2487168" cy="749808"/>
          </a:xfrm>
          <a:prstGeom prst="roundRect">
            <a:avLst>
              <a:gd name="adj" fmla="val 6098"/>
            </a:avLst>
          </a:prstGeom>
          <a:solidFill>
            <a:srgbClr val="FFFFFF"/>
          </a:solidFill>
          <a:ln w="9525">
            <a:solidFill>
              <a:srgbClr val="DDE4EF"/>
            </a:solidFill>
            <a:prstDash val="solid"/>
          </a:ln>
        </p:spPr>
        <p:txBody>
          <a:bodyPr/>
          <a:p/>
        </p:txBody>
      </p:sp>
      <p:sp>
        <p:nvSpPr>
          <p:cNvPr id="14" name="Text 12"/>
          <p:cNvSpPr/>
          <p:nvPr/>
        </p:nvSpPr>
        <p:spPr>
          <a:xfrm>
            <a:off x="3392424" y="2569464"/>
            <a:ext cx="2304288" cy="676656"/>
          </a:xfrm>
          <a:prstGeom prst="rect">
            <a:avLst/>
          </a:prstGeom>
          <a:noFill/>
          <a:ln/>
        </p:spPr>
        <p:txBody>
          <a:bodyPr wrap="square" lIns="0" tIns="0" rIns="0" bIns="0" rtlCol="0" anchor="t"/>
          <a:lstStyle/>
          <a:p>
            <a:pPr indent="0" marL="0">
              <a:buNone/>
            </a:pPr>
            <a:r>
              <a:rPr lang="en-US" sz="930" b="1" dirty="0">
                <a:solidFill>
                  <a:srgbClr val="1755C4"/>
                </a:solidFill>
                <a:latin typeface="Arial" pitchFamily="34" charset="0"/>
                <a:ea typeface="Arial" pitchFamily="34" charset="-122"/>
                <a:cs typeface="Arial" pitchFamily="34" charset="-120"/>
              </a:rPr>
              <a:t>Agent Core</a:t>
            </a:r>
            <a:endParaRPr lang="en-US" sz="930" dirty="0"/>
          </a:p>
          <a:p>
            <a:pPr indent="0" marL="0">
              <a:buNone/>
            </a:pPr>
            <a:r>
              <a:rPr lang="en-US" sz="820" dirty="0">
                <a:solidFill>
                  <a:srgbClr val="16243D"/>
                </a:solidFill>
                <a:latin typeface="Arial" pitchFamily="34" charset="0"/>
                <a:ea typeface="Arial" pitchFamily="34" charset="-122"/>
                <a:cs typeface="Arial" pitchFamily="34" charset="-120"/>
              </a:rPr>
              <a:t>Claude (claude-sonnet-4-6) tool-calling + devil's-advocate pass · deterministic fallback</a:t>
            </a:r>
            <a:endParaRPr lang="en-US" sz="930" dirty="0"/>
          </a:p>
        </p:txBody>
      </p:sp>
      <p:sp>
        <p:nvSpPr>
          <p:cNvPr id="15" name="Shape 13"/>
          <p:cNvSpPr/>
          <p:nvPr/>
        </p:nvSpPr>
        <p:spPr>
          <a:xfrm>
            <a:off x="5943600" y="2523744"/>
            <a:ext cx="2487168" cy="749808"/>
          </a:xfrm>
          <a:prstGeom prst="roundRect">
            <a:avLst>
              <a:gd name="adj" fmla="val 6098"/>
            </a:avLst>
          </a:prstGeom>
          <a:solidFill>
            <a:srgbClr val="FFFFFF"/>
          </a:solidFill>
          <a:ln w="9525">
            <a:solidFill>
              <a:srgbClr val="DDE4EF"/>
            </a:solidFill>
            <a:prstDash val="solid"/>
          </a:ln>
        </p:spPr>
        <p:txBody>
          <a:bodyPr/>
          <a:p/>
        </p:txBody>
      </p:sp>
      <p:sp>
        <p:nvSpPr>
          <p:cNvPr id="16" name="Text 14"/>
          <p:cNvSpPr/>
          <p:nvPr/>
        </p:nvSpPr>
        <p:spPr>
          <a:xfrm>
            <a:off x="6035040" y="2569464"/>
            <a:ext cx="2304288" cy="676656"/>
          </a:xfrm>
          <a:prstGeom prst="rect">
            <a:avLst/>
          </a:prstGeom>
          <a:noFill/>
          <a:ln/>
        </p:spPr>
        <p:txBody>
          <a:bodyPr wrap="square" lIns="0" tIns="0" rIns="0" bIns="0" rtlCol="0" anchor="t"/>
          <a:lstStyle/>
          <a:p>
            <a:pPr indent="0" marL="0">
              <a:buNone/>
            </a:pPr>
            <a:r>
              <a:rPr lang="en-US" sz="930" b="1" dirty="0">
                <a:solidFill>
                  <a:srgbClr val="1755C4"/>
                </a:solidFill>
                <a:latin typeface="Arial" pitchFamily="34" charset="0"/>
                <a:ea typeface="Arial" pitchFamily="34" charset="-122"/>
                <a:cs typeface="Arial" pitchFamily="34" charset="-120"/>
              </a:rPr>
              <a:t>RAG Layer</a:t>
            </a:r>
            <a:endParaRPr lang="en-US" sz="930" dirty="0"/>
          </a:p>
          <a:p>
            <a:pPr indent="0" marL="0">
              <a:buNone/>
            </a:pPr>
            <a:r>
              <a:rPr lang="en-US" sz="820" dirty="0">
                <a:solidFill>
                  <a:srgbClr val="16243D"/>
                </a:solidFill>
                <a:latin typeface="Arial" pitchFamily="34" charset="0"/>
                <a:ea typeface="Arial" pitchFamily="34" charset="-122"/>
                <a:cs typeface="Arial" pitchFamily="34" charset="-120"/>
              </a:rPr>
              <a:t>FAISS + local embeddings over the cited product corpus</a:t>
            </a:r>
            <a:endParaRPr lang="en-US" sz="930" dirty="0"/>
          </a:p>
        </p:txBody>
      </p:sp>
      <p:sp>
        <p:nvSpPr>
          <p:cNvPr id="17" name="Shape 15"/>
          <p:cNvSpPr/>
          <p:nvPr/>
        </p:nvSpPr>
        <p:spPr>
          <a:xfrm>
            <a:off x="658368" y="3364992"/>
            <a:ext cx="2487168" cy="749808"/>
          </a:xfrm>
          <a:prstGeom prst="roundRect">
            <a:avLst>
              <a:gd name="adj" fmla="val 6098"/>
            </a:avLst>
          </a:prstGeom>
          <a:solidFill>
            <a:srgbClr val="FFFFFF"/>
          </a:solidFill>
          <a:ln w="9525">
            <a:solidFill>
              <a:srgbClr val="DDE4EF"/>
            </a:solidFill>
            <a:prstDash val="solid"/>
          </a:ln>
        </p:spPr>
        <p:txBody>
          <a:bodyPr/>
          <a:p/>
        </p:txBody>
      </p:sp>
      <p:sp>
        <p:nvSpPr>
          <p:cNvPr id="18" name="Text 16"/>
          <p:cNvSpPr/>
          <p:nvPr/>
        </p:nvSpPr>
        <p:spPr>
          <a:xfrm>
            <a:off x="749808" y="3410712"/>
            <a:ext cx="2304288" cy="676656"/>
          </a:xfrm>
          <a:prstGeom prst="rect">
            <a:avLst/>
          </a:prstGeom>
          <a:noFill/>
          <a:ln/>
        </p:spPr>
        <p:txBody>
          <a:bodyPr wrap="square" lIns="0" tIns="0" rIns="0" bIns="0" rtlCol="0" anchor="t"/>
          <a:lstStyle/>
          <a:p>
            <a:pPr indent="0" marL="0">
              <a:buNone/>
            </a:pPr>
            <a:r>
              <a:rPr lang="en-US" sz="930" b="1" dirty="0">
                <a:solidFill>
                  <a:srgbClr val="1755C4"/>
                </a:solidFill>
                <a:latin typeface="Arial" pitchFamily="34" charset="0"/>
                <a:ea typeface="Arial" pitchFamily="34" charset="-122"/>
                <a:cs typeface="Arial" pitchFamily="34" charset="-120"/>
              </a:rPr>
              <a:t>Suitability Filter</a:t>
            </a:r>
            <a:endParaRPr lang="en-US" sz="930" dirty="0"/>
          </a:p>
          <a:p>
            <a:pPr indent="0" marL="0">
              <a:buNone/>
            </a:pPr>
            <a:r>
              <a:rPr lang="en-US" sz="820" dirty="0">
                <a:solidFill>
                  <a:srgbClr val="16243D"/>
                </a:solidFill>
                <a:latin typeface="Arial" pitchFamily="34" charset="0"/>
                <a:ea typeface="Arial" pitchFamily="34" charset="-122"/>
                <a:cs typeface="Arial" pitchFamily="34" charset="-120"/>
              </a:rPr>
              <a:t>hard rules — ULIPs &amp; unsuitable products blocked; runs on owned products too (Flow R)</a:t>
            </a:r>
            <a:endParaRPr lang="en-US" sz="930" dirty="0"/>
          </a:p>
        </p:txBody>
      </p:sp>
      <p:sp>
        <p:nvSpPr>
          <p:cNvPr id="19" name="Shape 17"/>
          <p:cNvSpPr/>
          <p:nvPr/>
        </p:nvSpPr>
        <p:spPr>
          <a:xfrm>
            <a:off x="3300984" y="3364992"/>
            <a:ext cx="2487168" cy="749808"/>
          </a:xfrm>
          <a:prstGeom prst="roundRect">
            <a:avLst>
              <a:gd name="adj" fmla="val 6098"/>
            </a:avLst>
          </a:prstGeom>
          <a:solidFill>
            <a:srgbClr val="FFFFFF"/>
          </a:solidFill>
          <a:ln w="9525">
            <a:solidFill>
              <a:srgbClr val="DDE4EF"/>
            </a:solidFill>
            <a:prstDash val="solid"/>
          </a:ln>
        </p:spPr>
        <p:txBody>
          <a:bodyPr/>
          <a:p/>
        </p:txBody>
      </p:sp>
      <p:sp>
        <p:nvSpPr>
          <p:cNvPr id="20" name="Text 18"/>
          <p:cNvSpPr/>
          <p:nvPr/>
        </p:nvSpPr>
        <p:spPr>
          <a:xfrm>
            <a:off x="3392424" y="3410712"/>
            <a:ext cx="2304288" cy="676656"/>
          </a:xfrm>
          <a:prstGeom prst="rect">
            <a:avLst/>
          </a:prstGeom>
          <a:noFill/>
          <a:ln/>
        </p:spPr>
        <p:txBody>
          <a:bodyPr wrap="square" lIns="0" tIns="0" rIns="0" bIns="0" rtlCol="0" anchor="t"/>
          <a:lstStyle/>
          <a:p>
            <a:pPr indent="0" marL="0">
              <a:buNone/>
            </a:pPr>
            <a:r>
              <a:rPr lang="en-US" sz="930" b="1" dirty="0">
                <a:solidFill>
                  <a:srgbClr val="1755C4"/>
                </a:solidFill>
                <a:latin typeface="Arial" pitchFamily="34" charset="0"/>
                <a:ea typeface="Arial" pitchFamily="34" charset="-122"/>
                <a:cs typeface="Arial" pitchFamily="34" charset="-120"/>
              </a:rPr>
              <a:t>XAI Builder</a:t>
            </a:r>
            <a:endParaRPr lang="en-US" sz="930" dirty="0"/>
          </a:p>
          <a:p>
            <a:pPr indent="0" marL="0">
              <a:buNone/>
            </a:pPr>
            <a:r>
              <a:rPr lang="en-US" sz="820" dirty="0">
                <a:solidFill>
                  <a:srgbClr val="16243D"/>
                </a:solidFill>
                <a:latin typeface="Arial" pitchFamily="34" charset="0"/>
                <a:ea typeface="Arial" pitchFamily="34" charset="-122"/>
                <a:cs typeface="Arial" pitchFamily="34" charset="-120"/>
              </a:rPr>
              <a:t>trigger + honest math + data used + do-nothing baseline</a:t>
            </a:r>
            <a:endParaRPr lang="en-US" sz="930" dirty="0"/>
          </a:p>
        </p:txBody>
      </p:sp>
      <p:sp>
        <p:nvSpPr>
          <p:cNvPr id="21" name="Shape 19"/>
          <p:cNvSpPr/>
          <p:nvPr/>
        </p:nvSpPr>
        <p:spPr>
          <a:xfrm>
            <a:off x="5943600" y="3364992"/>
            <a:ext cx="2487168" cy="749808"/>
          </a:xfrm>
          <a:prstGeom prst="roundRect">
            <a:avLst>
              <a:gd name="adj" fmla="val 6098"/>
            </a:avLst>
          </a:prstGeom>
          <a:solidFill>
            <a:srgbClr val="FFFFFF"/>
          </a:solidFill>
          <a:ln w="9525">
            <a:solidFill>
              <a:srgbClr val="DDE4EF"/>
            </a:solidFill>
            <a:prstDash val="solid"/>
          </a:ln>
        </p:spPr>
        <p:txBody>
          <a:bodyPr/>
          <a:p/>
        </p:txBody>
      </p:sp>
      <p:sp>
        <p:nvSpPr>
          <p:cNvPr id="22" name="Text 20"/>
          <p:cNvSpPr/>
          <p:nvPr/>
        </p:nvSpPr>
        <p:spPr>
          <a:xfrm>
            <a:off x="6035040" y="3410712"/>
            <a:ext cx="2304288" cy="676656"/>
          </a:xfrm>
          <a:prstGeom prst="rect">
            <a:avLst/>
          </a:prstGeom>
          <a:noFill/>
          <a:ln/>
        </p:spPr>
        <p:txBody>
          <a:bodyPr wrap="square" lIns="0" tIns="0" rIns="0" bIns="0" rtlCol="0" anchor="t"/>
          <a:lstStyle/>
          <a:p>
            <a:pPr indent="0" marL="0">
              <a:buNone/>
            </a:pPr>
            <a:r>
              <a:rPr lang="en-US" sz="930" b="1" dirty="0">
                <a:solidFill>
                  <a:srgbClr val="1755C4"/>
                </a:solidFill>
                <a:latin typeface="Arial" pitchFamily="34" charset="0"/>
                <a:ea typeface="Arial" pitchFamily="34" charset="-122"/>
                <a:cs typeface="Arial" pitchFamily="34" charset="-120"/>
              </a:rPr>
              <a:t>Feedback + Audit</a:t>
            </a:r>
            <a:endParaRPr lang="en-US" sz="930" dirty="0"/>
          </a:p>
          <a:p>
            <a:pPr indent="0" marL="0">
              <a:buNone/>
            </a:pPr>
            <a:r>
              <a:rPr lang="en-US" sz="820" dirty="0">
                <a:solidFill>
                  <a:srgbClr val="16243D"/>
                </a:solidFill>
                <a:latin typeface="Arial" pitchFamily="34" charset="0"/>
                <a:ea typeface="Arial" pitchFamily="34" charset="-122"/>
                <a:cs typeface="Arial" pitchFamily="34" charset="-120"/>
              </a:rPr>
              <a:t>SQLite learn store · hash-chained suitability certificates · /verify endpoint</a:t>
            </a:r>
            <a:endParaRPr lang="en-US" sz="930" dirty="0"/>
          </a:p>
        </p:txBody>
      </p:sp>
      <p:sp>
        <p:nvSpPr>
          <p:cNvPr id="23" name="Shape 21"/>
          <p:cNvSpPr/>
          <p:nvPr/>
        </p:nvSpPr>
        <p:spPr>
          <a:xfrm>
            <a:off x="457200" y="4407408"/>
            <a:ext cx="8229600" cy="402336"/>
          </a:xfrm>
          <a:prstGeom prst="roundRect">
            <a:avLst>
              <a:gd name="adj" fmla="val 15909"/>
            </a:avLst>
          </a:prstGeom>
          <a:solidFill>
            <a:srgbClr val="E7F8F2"/>
          </a:solidFill>
          <a:ln w="9525">
            <a:solidFill>
              <a:srgbClr val="E1E7F0"/>
            </a:solidFill>
            <a:prstDash val="solid"/>
          </a:ln>
        </p:spPr>
        <p:txBody>
          <a:bodyPr/>
          <a:p/>
        </p:txBody>
      </p:sp>
      <p:sp>
        <p:nvSpPr>
          <p:cNvPr id="24" name="Text 22"/>
          <p:cNvSpPr/>
          <p:nvPr/>
        </p:nvSpPr>
        <p:spPr>
          <a:xfrm>
            <a:off x="658368" y="4407408"/>
            <a:ext cx="7863840" cy="402336"/>
          </a:xfrm>
          <a:prstGeom prst="rect">
            <a:avLst/>
          </a:prstGeom>
          <a:noFill/>
          <a:ln/>
        </p:spPr>
        <p:txBody>
          <a:bodyPr wrap="square" lIns="0" tIns="0" rIns="0" bIns="0" rtlCol="0" anchor="ctr"/>
          <a:lstStyle/>
          <a:p>
            <a:pPr indent="0" marL="0">
              <a:buNone/>
            </a:pPr>
            <a:r>
              <a:rPr lang="en-US" sz="950" b="1" dirty="0">
                <a:solidFill>
                  <a:srgbClr val="0B1F3A"/>
                </a:solidFill>
                <a:latin typeface="Arial" pitchFamily="34" charset="0"/>
                <a:ea typeface="Arial" pitchFamily="34" charset="-122"/>
                <a:cs typeface="Arial" pitchFamily="34" charset="-120"/>
              </a:rPr>
              <a:t>Only secret: ANTHROPIC_API_KEY · everything else local &amp; free · 44 tests passing · live on Vercel · synthetic data only — no real PII, accounts, or money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12</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BUSINESS POTENTIAL</a:t>
            </a:r>
            <a:endParaRPr lang="en-US" sz="1050" dirty="0"/>
          </a:p>
        </p:txBody>
      </p:sp>
      <p:sp>
        <p:nvSpPr>
          <p:cNvPr id="4" name="Text 2"/>
          <p:cNvSpPr/>
          <p:nvPr/>
        </p:nvSpPr>
        <p:spPr>
          <a:xfrm>
            <a:off x="457200" y="457200"/>
            <a:ext cx="8229600" cy="411480"/>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Diya lifts the ₹100 cr/quarter — and turns compliance into an asset.</a:t>
            </a:r>
            <a:endParaRPr lang="en-US" sz="2300" dirty="0"/>
          </a:p>
        </p:txBody>
      </p:sp>
      <p:sp>
        <p:nvSpPr>
          <p:cNvPr id="5" name="Text 3"/>
          <p:cNvSpPr/>
          <p:nvPr/>
        </p:nvSpPr>
        <p:spPr>
          <a:xfrm>
            <a:off x="457200" y="1234440"/>
            <a:ext cx="4206240" cy="274320"/>
          </a:xfrm>
          <a:prstGeom prst="rect">
            <a:avLst/>
          </a:prstGeom>
          <a:noFill/>
          <a:ln/>
        </p:spPr>
        <p:txBody>
          <a:bodyPr wrap="square" lIns="0" tIns="0" rIns="0" bIns="0" rtlCol="0" anchor="ctr"/>
          <a:lstStyle/>
          <a:p>
            <a:pPr indent="0" marL="0">
              <a:buNone/>
            </a:pPr>
            <a:r>
              <a:rPr lang="en-US" sz="1300" b="1" dirty="0">
                <a:solidFill>
                  <a:srgbClr val="0B1F3A"/>
                </a:solidFill>
                <a:latin typeface="Arial" pitchFamily="34" charset="0"/>
                <a:ea typeface="Arial" pitchFamily="34" charset="-122"/>
                <a:cs typeface="Arial" pitchFamily="34" charset="-120"/>
              </a:rPr>
              <a:t>The suitability certificate</a:t>
            </a:r>
            <a:endParaRPr lang="en-US" sz="1300" dirty="0"/>
          </a:p>
        </p:txBody>
      </p:sp>
      <p:sp>
        <p:nvSpPr>
          <p:cNvPr id="6" name="Text 4"/>
          <p:cNvSpPr/>
          <p:nvPr/>
        </p:nvSpPr>
        <p:spPr>
          <a:xfrm>
            <a:off x="457200" y="1572768"/>
            <a:ext cx="4206240" cy="2743200"/>
          </a:xfrm>
          <a:prstGeom prst="rect">
            <a:avLst/>
          </a:prstGeom>
          <a:noFill/>
          <a:ln/>
        </p:spPr>
        <p:txBody>
          <a:bodyPr wrap="square" lIns="0" tIns="0" rIns="0" bIns="0" rtlCol="0" anchor="t"/>
          <a:lstStyle/>
          <a:p>
            <a:pPr marL="127000" indent="-127000">
              <a:lnSpc>
                <a:spcPct val="104000"/>
              </a:lnSpc>
              <a:spcAft>
                <a:spcPts val="800"/>
              </a:spcAft>
              <a:buSzPct val="100000"/>
              <a:buChar char="•"/>
            </a:pPr>
            <a:r>
              <a:rPr lang="en-US" sz="1040" dirty="0">
                <a:solidFill>
                  <a:srgbClr val="16243D"/>
                </a:solidFill>
                <a:latin typeface="Arial" pitchFamily="34" charset="0"/>
                <a:ea typeface="Arial" pitchFamily="34" charset="-122"/>
                <a:cs typeface="Arial" pitchFamily="34" charset="-120"/>
              </a:rPr>
              <a:t>Every recommendation — surfaced OR suppressed — is sealed as a suitability certificate: trigger, corpus evidence, filter verdict, devil's-advocate objections, user response</a:t>
            </a:r>
            <a:endParaRPr lang="en-US" sz="1040" dirty="0"/>
          </a:p>
          <a:p>
            <a:pPr marL="127000" indent="-127000">
              <a:lnSpc>
                <a:spcPct val="104000"/>
              </a:lnSpc>
              <a:spcAft>
                <a:spcPts val="800"/>
              </a:spcAft>
              <a:buSzPct val="100000"/>
              <a:buChar char="•"/>
            </a:pPr>
            <a:r>
              <a:rPr lang="en-US" sz="1040" dirty="0">
                <a:solidFill>
                  <a:srgbClr val="16243D"/>
                </a:solidFill>
                <a:latin typeface="Arial" pitchFamily="34" charset="0"/>
                <a:ea typeface="Arial" pitchFamily="34" charset="-122"/>
                <a:cs typeface="Arial" pitchFamily="34" charset="-120"/>
              </a:rPr>
              <a:t>Certificates are hash-chained into an immutable, tamper-evident audit log with a verify endpoint — regulator-ready by construction</a:t>
            </a:r>
            <a:endParaRPr lang="en-US" sz="1040" dirty="0"/>
          </a:p>
          <a:p>
            <a:pPr marL="127000" indent="-127000">
              <a:lnSpc>
                <a:spcPct val="104000"/>
              </a:lnSpc>
              <a:spcAft>
                <a:spcPts val="800"/>
              </a:spcAft>
              <a:buSzPct val="100000"/>
              <a:buChar char="•"/>
            </a:pPr>
            <a:r>
              <a:rPr lang="en-US" sz="1040" dirty="0">
                <a:solidFill>
                  <a:srgbClr val="16243D"/>
                </a:solidFill>
                <a:latin typeface="Arial" pitchFamily="34" charset="0"/>
                <a:ea typeface="Arial" pitchFamily="34" charset="-122"/>
                <a:cs typeface="Arial" pitchFamily="34" charset="-120"/>
              </a:rPr>
              <a:t>A Compliance view in Mission Control: when RBI / IRDAI ask “prove you didn't mis-sell”, SBI has a one-click answer</a:t>
            </a:r>
            <a:endParaRPr lang="en-US" sz="1040" dirty="0"/>
          </a:p>
          <a:p>
            <a:pPr marL="127000" indent="-127000">
              <a:lnSpc>
                <a:spcPct val="104000"/>
              </a:lnSpc>
              <a:spcAft>
                <a:spcPts val="800"/>
              </a:spcAft>
              <a:buSzPct val="100000"/>
              <a:buChar char="•"/>
            </a:pPr>
            <a:r>
              <a:rPr lang="en-US" sz="1040" b="1" dirty="0">
                <a:solidFill>
                  <a:srgbClr val="0B1F3A"/>
                </a:solidFill>
                <a:latin typeface="Arial" pitchFamily="34" charset="0"/>
                <a:ea typeface="Arial" pitchFamily="34" charset="-122"/>
                <a:cs typeface="Arial" pitchFamily="34" charset="-120"/>
              </a:rPr>
              <a:t>That turns Diya from a UX feature into a risk-management asset.</a:t>
            </a:r>
            <a:endParaRPr lang="en-US" sz="1040" dirty="0"/>
          </a:p>
        </p:txBody>
      </p:sp>
      <p:sp>
        <p:nvSpPr>
          <p:cNvPr id="7" name="Shape 5"/>
          <p:cNvSpPr/>
          <p:nvPr/>
        </p:nvSpPr>
        <p:spPr>
          <a:xfrm>
            <a:off x="4892040" y="1234440"/>
            <a:ext cx="3794760" cy="658368"/>
          </a:xfrm>
          <a:prstGeom prst="roundRect">
            <a:avLst>
              <a:gd name="adj" fmla="val 972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8" name="Text 6"/>
          <p:cNvSpPr/>
          <p:nvPr/>
        </p:nvSpPr>
        <p:spPr>
          <a:xfrm>
            <a:off x="5056632" y="1298448"/>
            <a:ext cx="1600200" cy="548640"/>
          </a:xfrm>
          <a:prstGeom prst="rect">
            <a:avLst/>
          </a:prstGeom>
          <a:noFill/>
          <a:ln/>
        </p:spPr>
        <p:txBody>
          <a:bodyPr wrap="square" lIns="0" tIns="0" rIns="0" bIns="0" rtlCol="0" anchor="ctr"/>
          <a:lstStyle/>
          <a:p>
            <a:pPr indent="0" marL="0">
              <a:buNone/>
            </a:pPr>
            <a:r>
              <a:rPr lang="en-US" sz="1250" b="1" dirty="0">
                <a:solidFill>
                  <a:srgbClr val="1755C4"/>
                </a:solidFill>
                <a:latin typeface="Arial" pitchFamily="34" charset="0"/>
                <a:ea typeface="Arial" pitchFamily="34" charset="-122"/>
                <a:cs typeface="Arial" pitchFamily="34" charset="-120"/>
              </a:rPr>
              <a:t>~₹100 cr / quarter</a:t>
            </a:r>
            <a:endParaRPr lang="en-US" sz="1250" dirty="0"/>
          </a:p>
        </p:txBody>
      </p:sp>
      <p:sp>
        <p:nvSpPr>
          <p:cNvPr id="9" name="Text 7"/>
          <p:cNvSpPr/>
          <p:nvPr/>
        </p:nvSpPr>
        <p:spPr>
          <a:xfrm>
            <a:off x="6693408" y="1289304"/>
            <a:ext cx="1874520" cy="566928"/>
          </a:xfrm>
          <a:prstGeom prst="rect">
            <a:avLst/>
          </a:prstGeom>
          <a:noFill/>
          <a:ln/>
        </p:spPr>
        <p:txBody>
          <a:bodyPr wrap="square" lIns="0" tIns="0" rIns="0" bIns="0" rtlCol="0" anchor="ctr"/>
          <a:lstStyle/>
          <a:p>
            <a:pPr indent="0" marL="0">
              <a:buNone/>
            </a:pPr>
            <a:r>
              <a:rPr lang="en-US" sz="780" dirty="0">
                <a:solidFill>
                  <a:srgbClr val="5B6B84"/>
                </a:solidFill>
                <a:latin typeface="Arial" pitchFamily="34" charset="0"/>
                <a:ea typeface="Arial" pitchFamily="34" charset="-122"/>
                <a:cs typeface="Arial" pitchFamily="34" charset="-120"/>
              </a:rPr>
              <a:t>YONO fee income from subsidiary insurance &amp; MF distribution — lifted AND de-risked</a:t>
            </a:r>
            <a:endParaRPr lang="en-US" sz="780" dirty="0"/>
          </a:p>
        </p:txBody>
      </p:sp>
      <p:sp>
        <p:nvSpPr>
          <p:cNvPr id="10" name="Shape 8"/>
          <p:cNvSpPr/>
          <p:nvPr/>
        </p:nvSpPr>
        <p:spPr>
          <a:xfrm>
            <a:off x="4892040" y="1984248"/>
            <a:ext cx="3794760" cy="658368"/>
          </a:xfrm>
          <a:prstGeom prst="roundRect">
            <a:avLst>
              <a:gd name="adj" fmla="val 972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11" name="Text 9"/>
          <p:cNvSpPr/>
          <p:nvPr/>
        </p:nvSpPr>
        <p:spPr>
          <a:xfrm>
            <a:off x="5056632" y="2048256"/>
            <a:ext cx="1600200" cy="548640"/>
          </a:xfrm>
          <a:prstGeom prst="rect">
            <a:avLst/>
          </a:prstGeom>
          <a:noFill/>
          <a:ln/>
        </p:spPr>
        <p:txBody>
          <a:bodyPr wrap="square" lIns="0" tIns="0" rIns="0" bIns="0" rtlCol="0" anchor="ctr"/>
          <a:lstStyle/>
          <a:p>
            <a:pPr indent="0" marL="0">
              <a:buNone/>
            </a:pPr>
            <a:r>
              <a:rPr lang="en-US" sz="1250" b="1" dirty="0">
                <a:solidFill>
                  <a:srgbClr val="0FB98A"/>
                </a:solidFill>
                <a:latin typeface="Arial" pitchFamily="34" charset="0"/>
                <a:ea typeface="Arial" pitchFamily="34" charset="-122"/>
                <a:cs typeface="Arial" pitchFamily="34" charset="-120"/>
              </a:rPr>
              <a:t>3 adoption dimensions</a:t>
            </a:r>
            <a:endParaRPr lang="en-US" sz="1250" dirty="0"/>
          </a:p>
        </p:txBody>
      </p:sp>
      <p:sp>
        <p:nvSpPr>
          <p:cNvPr id="12" name="Text 10"/>
          <p:cNvSpPr/>
          <p:nvPr/>
        </p:nvSpPr>
        <p:spPr>
          <a:xfrm>
            <a:off x="6693408" y="2039112"/>
            <a:ext cx="1874520" cy="566928"/>
          </a:xfrm>
          <a:prstGeom prst="rect">
            <a:avLst/>
          </a:prstGeom>
          <a:noFill/>
          <a:ln/>
        </p:spPr>
        <p:txBody>
          <a:bodyPr wrap="square" lIns="0" tIns="0" rIns="0" bIns="0" rtlCol="0" anchor="ctr"/>
          <a:lstStyle/>
          <a:p>
            <a:pPr indent="0" marL="0">
              <a:buNone/>
            </a:pPr>
            <a:r>
              <a:rPr lang="en-US" sz="780" dirty="0">
                <a:solidFill>
                  <a:srgbClr val="5B6B84"/>
                </a:solidFill>
                <a:latin typeface="Arial" pitchFamily="34" charset="0"/>
                <a:ea typeface="Arial" pitchFamily="34" charset="-122"/>
                <a:cs typeface="Arial" pitchFamily="34" charset="-120"/>
              </a:rPr>
              <a:t>product (FD, cover) · platform (Bill Pay → ladder) · engagement (subscriptions → goals)</a:t>
            </a:r>
            <a:endParaRPr lang="en-US" sz="780" dirty="0"/>
          </a:p>
        </p:txBody>
      </p:sp>
      <p:sp>
        <p:nvSpPr>
          <p:cNvPr id="13" name="Shape 11"/>
          <p:cNvSpPr/>
          <p:nvPr/>
        </p:nvSpPr>
        <p:spPr>
          <a:xfrm>
            <a:off x="4892040" y="2734056"/>
            <a:ext cx="3794760" cy="658368"/>
          </a:xfrm>
          <a:prstGeom prst="roundRect">
            <a:avLst>
              <a:gd name="adj" fmla="val 9722"/>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txBody>
          <a:bodyPr/>
          <a:p/>
        </p:txBody>
      </p:sp>
      <p:sp>
        <p:nvSpPr>
          <p:cNvPr id="14" name="Text 12"/>
          <p:cNvSpPr/>
          <p:nvPr/>
        </p:nvSpPr>
        <p:spPr>
          <a:xfrm>
            <a:off x="5056632" y="2798064"/>
            <a:ext cx="1600200" cy="548640"/>
          </a:xfrm>
          <a:prstGeom prst="rect">
            <a:avLst/>
          </a:prstGeom>
          <a:noFill/>
          <a:ln/>
        </p:spPr>
        <p:txBody>
          <a:bodyPr wrap="square" lIns="0" tIns="0" rIns="0" bIns="0" rtlCol="0" anchor="ctr"/>
          <a:lstStyle/>
          <a:p>
            <a:pPr indent="0" marL="0">
              <a:buNone/>
            </a:pPr>
            <a:r>
              <a:rPr lang="en-US" sz="1250" b="1" dirty="0">
                <a:solidFill>
                  <a:srgbClr val="E8930C"/>
                </a:solidFill>
                <a:latin typeface="Arial" pitchFamily="34" charset="0"/>
                <a:ea typeface="Arial" pitchFamily="34" charset="-122"/>
                <a:cs typeface="Arial" pitchFamily="34" charset="-120"/>
              </a:rPr>
              <a:t>≪ acquisition cost</a:t>
            </a:r>
            <a:endParaRPr lang="en-US" sz="1250" dirty="0"/>
          </a:p>
        </p:txBody>
      </p:sp>
      <p:sp>
        <p:nvSpPr>
          <p:cNvPr id="15" name="Text 13"/>
          <p:cNvSpPr/>
          <p:nvPr/>
        </p:nvSpPr>
        <p:spPr>
          <a:xfrm>
            <a:off x="6693408" y="2788920"/>
            <a:ext cx="1874520" cy="566928"/>
          </a:xfrm>
          <a:prstGeom prst="rect">
            <a:avLst/>
          </a:prstGeom>
          <a:noFill/>
          <a:ln/>
        </p:spPr>
        <p:txBody>
          <a:bodyPr wrap="square" lIns="0" tIns="0" rIns="0" bIns="0" rtlCol="0" anchor="ctr"/>
          <a:lstStyle/>
          <a:p>
            <a:pPr indent="0" marL="0">
              <a:buNone/>
            </a:pPr>
            <a:r>
              <a:rPr lang="en-US" sz="780" dirty="0">
                <a:solidFill>
                  <a:srgbClr val="5B6B84"/>
                </a:solidFill>
                <a:latin typeface="Arial" pitchFamily="34" charset="0"/>
                <a:ea typeface="Arial" pitchFamily="34" charset="-122"/>
                <a:cs typeface="Arial" pitchFamily="34" charset="-120"/>
              </a:rPr>
              <a:t>activating a dormant digital user costs a fraction of acquiring a new one</a:t>
            </a:r>
            <a:endParaRPr lang="en-US" sz="780" dirty="0"/>
          </a:p>
        </p:txBody>
      </p:sp>
      <p:sp>
        <p:nvSpPr>
          <p:cNvPr id="16" name="Shape 14"/>
          <p:cNvSpPr/>
          <p:nvPr/>
        </p:nvSpPr>
        <p:spPr>
          <a:xfrm>
            <a:off x="4892040" y="3520440"/>
            <a:ext cx="3794760" cy="1234440"/>
          </a:xfrm>
          <a:prstGeom prst="roundRect">
            <a:avLst>
              <a:gd name="adj" fmla="val 4444"/>
            </a:avLst>
          </a:prstGeom>
          <a:solidFill>
            <a:srgbClr val="F4F6FB"/>
          </a:solidFill>
          <a:ln w="15875">
            <a:noFill/>
            <a:prstDash val="dash"/>
          </a:ln>
        </p:spPr>
        <p:txBody>
          <a:bodyPr/>
          <a:p/>
        </p:txBody>
      </p:sp>
      <p:pic>
        <p:nvPicPr>
          <p:cNvPr id="18" name="Picture 17" descr="deck_s12.png"/>
          <p:cNvPicPr>
            <a:picLocks noChangeAspect="1"/>
          </p:cNvPicPr>
          <p:nvPr/>
        </p:nvPicPr>
        <p:blipFill>
          <a:blip r:embed="rId3"/>
          <a:stretch>
            <a:fillRect/>
          </a:stretch>
        </p:blipFill>
        <p:spPr>
          <a:xfrm>
            <a:off x="5648466" y="3538956"/>
            <a:ext cx="2281906" cy="11974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9AA7BC"/>
                </a:solidFill>
                <a:latin typeface="Arial" pitchFamily="34" charset="0"/>
                <a:ea typeface="Arial" pitchFamily="34" charset="-122"/>
                <a:cs typeface="Arial" pitchFamily="34" charset="-120"/>
              </a:rPr>
              <a:t>Diya · SBI Hackathon @ GFF 2026 · 13</a:t>
            </a:r>
            <a:endParaRPr lang="en-US" sz="800" dirty="0"/>
          </a:p>
        </p:txBody>
      </p:sp>
      <p:sp>
        <p:nvSpPr>
          <p:cNvPr id="3" name="Text 1"/>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SCALABILITY</a:t>
            </a:r>
            <a:endParaRPr lang="en-US" sz="1050" dirty="0"/>
          </a:p>
        </p:txBody>
      </p:sp>
      <p:sp>
        <p:nvSpPr>
          <p:cNvPr id="4" name="Text 2"/>
          <p:cNvSpPr/>
          <p:nvPr/>
        </p:nvSpPr>
        <p:spPr>
          <a:xfrm>
            <a:off x="457200" y="457200"/>
            <a:ext cx="8229600" cy="384048"/>
          </a:xfrm>
          <a:prstGeom prst="rect">
            <a:avLst/>
          </a:prstGeom>
          <a:noFill/>
          <a:ln/>
        </p:spPr>
        <p:txBody>
          <a:bodyPr wrap="square" lIns="0" tIns="0" rIns="0" bIns="0" rtlCol="0" anchor="t"/>
          <a:lstStyle/>
          <a:p>
            <a:pPr indent="0" marL="0">
              <a:buNone/>
            </a:pPr>
            <a:r>
              <a:rPr lang="en-US" sz="2300" b="1" dirty="0">
                <a:solidFill>
                  <a:srgbClr val="0B1F3A"/>
                </a:solidFill>
                <a:latin typeface="Arial" pitchFamily="34" charset="0"/>
                <a:ea typeface="Arial" pitchFamily="34" charset="-122"/>
                <a:cs typeface="Arial" pitchFamily="34" charset="-120"/>
              </a:rPr>
              <a:t>One loop. Every user. 100+ journeys. Any bank.</a:t>
            </a:r>
            <a:endParaRPr lang="en-US" sz="2300" dirty="0"/>
          </a:p>
        </p:txBody>
      </p:sp>
      <p:sp>
        <p:nvSpPr>
          <p:cNvPr id="5" name="Shape 3"/>
          <p:cNvSpPr/>
          <p:nvPr/>
        </p:nvSpPr>
        <p:spPr>
          <a:xfrm>
            <a:off x="457200" y="1207008"/>
            <a:ext cx="1975104" cy="1170432"/>
          </a:xfrm>
          <a:prstGeom prst="roundRect">
            <a:avLst>
              <a:gd name="adj" fmla="val 5469"/>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6" name="Text 4"/>
          <p:cNvSpPr/>
          <p:nvPr/>
        </p:nvSpPr>
        <p:spPr>
          <a:xfrm>
            <a:off x="594360" y="1298448"/>
            <a:ext cx="1737360" cy="411480"/>
          </a:xfrm>
          <a:prstGeom prst="rect">
            <a:avLst/>
          </a:prstGeom>
          <a:noFill/>
          <a:ln/>
        </p:spPr>
        <p:txBody>
          <a:bodyPr wrap="square" lIns="0" tIns="0" rIns="0" bIns="0" rtlCol="0" anchor="ctr"/>
          <a:lstStyle/>
          <a:p>
            <a:pPr indent="0" marL="0">
              <a:buNone/>
            </a:pPr>
            <a:r>
              <a:rPr lang="en-US" sz="2100" b="1" dirty="0">
                <a:solidFill>
                  <a:srgbClr val="1755C4"/>
                </a:solidFill>
                <a:latin typeface="Arial" pitchFamily="34" charset="0"/>
                <a:ea typeface="Arial" pitchFamily="34" charset="-122"/>
                <a:cs typeface="Arial" pitchFamily="34" charset="-120"/>
              </a:rPr>
              <a:t>85M</a:t>
            </a:r>
            <a:endParaRPr lang="en-US" sz="2100" dirty="0"/>
          </a:p>
        </p:txBody>
      </p:sp>
      <p:sp>
        <p:nvSpPr>
          <p:cNvPr id="7" name="Text 5"/>
          <p:cNvSpPr/>
          <p:nvPr/>
        </p:nvSpPr>
        <p:spPr>
          <a:xfrm>
            <a:off x="594360" y="1737360"/>
            <a:ext cx="1737360" cy="566928"/>
          </a:xfrm>
          <a:prstGeom prst="rect">
            <a:avLst/>
          </a:prstGeom>
          <a:noFill/>
          <a:ln/>
        </p:spPr>
        <p:txBody>
          <a:bodyPr wrap="square" lIns="0" tIns="0" rIns="0" bIns="0" rtlCol="0" anchor="ctr"/>
          <a:lstStyle/>
          <a:p>
            <a:pPr indent="0" marL="0">
              <a:buNone/>
            </a:pPr>
            <a:r>
              <a:rPr lang="en-US" sz="820" dirty="0">
                <a:solidFill>
                  <a:srgbClr val="5B6B84"/>
                </a:solidFill>
                <a:latin typeface="Arial" pitchFamily="34" charset="0"/>
                <a:ea typeface="Arial" pitchFamily="34" charset="-122"/>
                <a:cs typeface="Arial" pitchFamily="34" charset="-120"/>
              </a:rPr>
              <a:t>users swept autonomously — nudge, hold back, or stay silent, per person</a:t>
            </a:r>
            <a:endParaRPr lang="en-US" sz="820" dirty="0"/>
          </a:p>
        </p:txBody>
      </p:sp>
      <p:sp>
        <p:nvSpPr>
          <p:cNvPr id="8" name="Shape 6"/>
          <p:cNvSpPr/>
          <p:nvPr/>
        </p:nvSpPr>
        <p:spPr>
          <a:xfrm>
            <a:off x="2578608" y="1207008"/>
            <a:ext cx="1975104" cy="1170432"/>
          </a:xfrm>
          <a:prstGeom prst="roundRect">
            <a:avLst>
              <a:gd name="adj" fmla="val 5469"/>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9" name="Text 7"/>
          <p:cNvSpPr/>
          <p:nvPr/>
        </p:nvSpPr>
        <p:spPr>
          <a:xfrm>
            <a:off x="2715768" y="1298448"/>
            <a:ext cx="1737360" cy="411480"/>
          </a:xfrm>
          <a:prstGeom prst="rect">
            <a:avLst/>
          </a:prstGeom>
          <a:noFill/>
          <a:ln/>
        </p:spPr>
        <p:txBody>
          <a:bodyPr wrap="square" lIns="0" tIns="0" rIns="0" bIns="0" rtlCol="0" anchor="ctr"/>
          <a:lstStyle/>
          <a:p>
            <a:pPr indent="0" marL="0">
              <a:buNone/>
            </a:pPr>
            <a:r>
              <a:rPr lang="en-US" sz="2100" b="1" dirty="0">
                <a:solidFill>
                  <a:srgbClr val="1755C4"/>
                </a:solidFill>
                <a:latin typeface="Arial" pitchFamily="34" charset="0"/>
                <a:ea typeface="Arial" pitchFamily="34" charset="-122"/>
                <a:cs typeface="Arial" pitchFamily="34" charset="-120"/>
              </a:rPr>
              <a:t>100+</a:t>
            </a:r>
            <a:endParaRPr lang="en-US" sz="2100" dirty="0"/>
          </a:p>
        </p:txBody>
      </p:sp>
      <p:sp>
        <p:nvSpPr>
          <p:cNvPr id="10" name="Text 8"/>
          <p:cNvSpPr/>
          <p:nvPr/>
        </p:nvSpPr>
        <p:spPr>
          <a:xfrm>
            <a:off x="2715768" y="1737360"/>
            <a:ext cx="1737360" cy="566928"/>
          </a:xfrm>
          <a:prstGeom prst="rect">
            <a:avLst/>
          </a:prstGeom>
          <a:noFill/>
          <a:ln/>
        </p:spPr>
        <p:txBody>
          <a:bodyPr wrap="square" lIns="0" tIns="0" rIns="0" bIns="0" rtlCol="0" anchor="ctr"/>
          <a:lstStyle/>
          <a:p>
            <a:pPr indent="0" marL="0">
              <a:buNone/>
            </a:pPr>
            <a:r>
              <a:rPr lang="en-US" sz="820" dirty="0">
                <a:solidFill>
                  <a:srgbClr val="5B6B84"/>
                </a:solidFill>
                <a:latin typeface="Arial" pitchFamily="34" charset="0"/>
                <a:ea typeface="Arial" pitchFamily="34" charset="-122"/>
                <a:cs typeface="Arial" pitchFamily="34" charset="-120"/>
              </a:rPr>
              <a:t>planned YONO journeys — a new journey is a trigger + corpus docs, not new code</a:t>
            </a:r>
            <a:endParaRPr lang="en-US" sz="820" dirty="0"/>
          </a:p>
        </p:txBody>
      </p:sp>
      <p:sp>
        <p:nvSpPr>
          <p:cNvPr id="11" name="Shape 9"/>
          <p:cNvSpPr/>
          <p:nvPr/>
        </p:nvSpPr>
        <p:spPr>
          <a:xfrm>
            <a:off x="4700016" y="1207008"/>
            <a:ext cx="1975104" cy="1170432"/>
          </a:xfrm>
          <a:prstGeom prst="roundRect">
            <a:avLst>
              <a:gd name="adj" fmla="val 5469"/>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2" name="Text 10"/>
          <p:cNvSpPr/>
          <p:nvPr/>
        </p:nvSpPr>
        <p:spPr>
          <a:xfrm>
            <a:off x="4837176" y="1298448"/>
            <a:ext cx="1737360" cy="411480"/>
          </a:xfrm>
          <a:prstGeom prst="rect">
            <a:avLst/>
          </a:prstGeom>
          <a:noFill/>
          <a:ln/>
        </p:spPr>
        <p:txBody>
          <a:bodyPr wrap="square" lIns="0" tIns="0" rIns="0" bIns="0" rtlCol="0" anchor="ctr"/>
          <a:lstStyle/>
          <a:p>
            <a:pPr indent="0" marL="0">
              <a:buNone/>
            </a:pPr>
            <a:r>
              <a:rPr lang="en-US" sz="2100" b="1" dirty="0">
                <a:solidFill>
                  <a:srgbClr val="1755C4"/>
                </a:solidFill>
                <a:latin typeface="Arial" pitchFamily="34" charset="0"/>
                <a:ea typeface="Arial" pitchFamily="34" charset="-122"/>
                <a:cs typeface="Arial" pitchFamily="34" charset="-120"/>
              </a:rPr>
              <a:t>4 / month</a:t>
            </a:r>
            <a:endParaRPr lang="en-US" sz="2100" dirty="0"/>
          </a:p>
        </p:txBody>
      </p:sp>
      <p:sp>
        <p:nvSpPr>
          <p:cNvPr id="13" name="Text 11"/>
          <p:cNvSpPr/>
          <p:nvPr/>
        </p:nvSpPr>
        <p:spPr>
          <a:xfrm>
            <a:off x="4837176" y="1737360"/>
            <a:ext cx="1737360" cy="566928"/>
          </a:xfrm>
          <a:prstGeom prst="rect">
            <a:avLst/>
          </a:prstGeom>
          <a:noFill/>
          <a:ln/>
        </p:spPr>
        <p:txBody>
          <a:bodyPr wrap="square" lIns="0" tIns="0" rIns="0" bIns="0" rtlCol="0" anchor="ctr"/>
          <a:lstStyle/>
          <a:p>
            <a:pPr indent="0" marL="0">
              <a:buNone/>
            </a:pPr>
            <a:r>
              <a:rPr lang="en-US" sz="820" dirty="0">
                <a:solidFill>
                  <a:srgbClr val="5B6B84"/>
                </a:solidFill>
                <a:latin typeface="Arial" pitchFamily="34" charset="0"/>
                <a:ea typeface="Arial" pitchFamily="34" charset="-122"/>
                <a:cs typeface="Arial" pitchFamily="34" charset="-120"/>
              </a:rPr>
              <a:t>max interruptions per user — restraint scales with the base</a:t>
            </a:r>
            <a:endParaRPr lang="en-US" sz="820" dirty="0"/>
          </a:p>
        </p:txBody>
      </p:sp>
      <p:sp>
        <p:nvSpPr>
          <p:cNvPr id="14" name="Shape 12"/>
          <p:cNvSpPr/>
          <p:nvPr/>
        </p:nvSpPr>
        <p:spPr>
          <a:xfrm>
            <a:off x="6821424" y="1207008"/>
            <a:ext cx="1975104" cy="1170432"/>
          </a:xfrm>
          <a:prstGeom prst="roundRect">
            <a:avLst>
              <a:gd name="adj" fmla="val 5469"/>
            </a:avLst>
          </a:prstGeom>
          <a:solidFill>
            <a:srgbClr val="F4F6FB"/>
          </a:solidFill>
          <a:ln w="9525">
            <a:solidFill>
              <a:srgbClr val="E1E7F0"/>
            </a:solidFill>
            <a:prstDash val="solid"/>
          </a:ln>
          <a:effectLst>
            <a:outerShdw sx="100000" sy="100000" kx="0" ky="0" algn="bl" rotWithShape="0" blurRad="88900" dist="25400" dir="2700000">
              <a:srgbClr val="8A97AC">
                <a:alpha val="30000"/>
              </a:srgbClr>
            </a:outerShdw>
          </a:effectLst>
        </p:spPr>
      </p:sp>
      <p:sp>
        <p:nvSpPr>
          <p:cNvPr id="15" name="Text 13"/>
          <p:cNvSpPr/>
          <p:nvPr/>
        </p:nvSpPr>
        <p:spPr>
          <a:xfrm>
            <a:off x="6958584" y="1298448"/>
            <a:ext cx="1737360" cy="411480"/>
          </a:xfrm>
          <a:prstGeom prst="rect">
            <a:avLst/>
          </a:prstGeom>
          <a:noFill/>
          <a:ln/>
        </p:spPr>
        <p:txBody>
          <a:bodyPr wrap="square" lIns="0" tIns="0" rIns="0" bIns="0" rtlCol="0" anchor="ctr"/>
          <a:lstStyle/>
          <a:p>
            <a:pPr indent="0" marL="0">
              <a:buNone/>
            </a:pPr>
            <a:r>
              <a:rPr lang="en-US" sz="2100" b="1" dirty="0">
                <a:solidFill>
                  <a:srgbClr val="1755C4"/>
                </a:solidFill>
                <a:latin typeface="Arial" pitchFamily="34" charset="0"/>
                <a:ea typeface="Arial" pitchFamily="34" charset="-122"/>
                <a:cs typeface="Arial" pitchFamily="34" charset="-120"/>
              </a:rPr>
              <a:t>1 secret</a:t>
            </a:r>
            <a:endParaRPr lang="en-US" sz="2100" dirty="0"/>
          </a:p>
        </p:txBody>
      </p:sp>
      <p:sp>
        <p:nvSpPr>
          <p:cNvPr id="16" name="Text 14"/>
          <p:cNvSpPr/>
          <p:nvPr/>
        </p:nvSpPr>
        <p:spPr>
          <a:xfrm>
            <a:off x="6958584" y="1737360"/>
            <a:ext cx="1737360" cy="566928"/>
          </a:xfrm>
          <a:prstGeom prst="rect">
            <a:avLst/>
          </a:prstGeom>
          <a:noFill/>
          <a:ln/>
        </p:spPr>
        <p:txBody>
          <a:bodyPr wrap="square" lIns="0" tIns="0" rIns="0" bIns="0" rtlCol="0" anchor="ctr"/>
          <a:lstStyle/>
          <a:p>
            <a:pPr indent="0" marL="0">
              <a:buNone/>
            </a:pPr>
            <a:r>
              <a:rPr lang="en-US" sz="820" dirty="0">
                <a:solidFill>
                  <a:srgbClr val="5B6B84"/>
                </a:solidFill>
                <a:latin typeface="Arial" pitchFamily="34" charset="0"/>
                <a:ea typeface="Arial" pitchFamily="34" charset="-122"/>
                <a:cs typeface="Arial" pitchFamily="34" charset="-120"/>
              </a:rPr>
              <a:t>ANTHROPIC_API_KEY — everything else local; white-label to any bank</a:t>
            </a:r>
            <a:endParaRPr lang="en-US" sz="820" dirty="0"/>
          </a:p>
        </p:txBody>
      </p:sp>
      <p:sp>
        <p:nvSpPr>
          <p:cNvPr id="17" name="Text 15"/>
          <p:cNvSpPr/>
          <p:nvPr/>
        </p:nvSpPr>
        <p:spPr>
          <a:xfrm>
            <a:off x="457200" y="2542032"/>
            <a:ext cx="8229600" cy="256032"/>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The adoption ladder compounds: each adopted feature unlocks the next.</a:t>
            </a:r>
            <a:endParaRPr lang="en-US" sz="1150" dirty="0"/>
          </a:p>
        </p:txBody>
      </p:sp>
      <p:sp>
        <p:nvSpPr>
          <p:cNvPr id="18" name="Shape 16"/>
          <p:cNvSpPr/>
          <p:nvPr/>
        </p:nvSpPr>
        <p:spPr>
          <a:xfrm>
            <a:off x="640080" y="3794760"/>
            <a:ext cx="1783080" cy="457200"/>
          </a:xfrm>
          <a:prstGeom prst="roundRect">
            <a:avLst>
              <a:gd name="adj" fmla="val 14000"/>
            </a:avLst>
          </a:prstGeom>
          <a:solidFill>
            <a:srgbClr val="E7F8F2"/>
          </a:solidFill>
          <a:ln w="12700">
            <a:solidFill>
              <a:srgbClr val="0FB98A"/>
            </a:solidFill>
            <a:prstDash val="solid"/>
          </a:ln>
          <a:effectLst>
            <a:outerShdw sx="100000" sy="100000" kx="0" ky="0" algn="bl" rotWithShape="0" blurRad="88900" dist="25400" dir="2700000">
              <a:srgbClr val="8A97AC">
                <a:alpha val="30000"/>
              </a:srgbClr>
            </a:outerShdw>
          </a:effectLst>
        </p:spPr>
      </p:sp>
      <p:sp>
        <p:nvSpPr>
          <p:cNvPr id="19" name="Text 17"/>
          <p:cNvSpPr/>
          <p:nvPr/>
        </p:nvSpPr>
        <p:spPr>
          <a:xfrm>
            <a:off x="640080" y="3794760"/>
            <a:ext cx="1783080" cy="457200"/>
          </a:xfrm>
          <a:prstGeom prst="rect">
            <a:avLst/>
          </a:prstGeom>
          <a:noFill/>
          <a:ln/>
        </p:spPr>
        <p:txBody>
          <a:bodyPr wrap="square" lIns="0" tIns="0" rIns="0" bIns="0" rtlCol="0" anchor="ctr"/>
          <a:lstStyle/>
          <a:p>
            <a:pPr algn="ctr" indent="0" marL="0">
              <a:buNone/>
            </a:pPr>
            <a:r>
              <a:rPr lang="en-US" sz="1050" b="1" dirty="0">
                <a:solidFill>
                  <a:srgbClr val="0FB98A"/>
                </a:solidFill>
                <a:latin typeface="Arial" pitchFamily="34" charset="0"/>
                <a:ea typeface="Arial" pitchFamily="34" charset="-122"/>
                <a:cs typeface="Arial" pitchFamily="34" charset="-120"/>
              </a:rPr>
              <a:t>Bill Pay ✓</a:t>
            </a:r>
            <a:endParaRPr lang="en-US" sz="1050" dirty="0"/>
          </a:p>
        </p:txBody>
      </p:sp>
      <p:sp>
        <p:nvSpPr>
          <p:cNvPr id="20" name="Shape 18"/>
          <p:cNvSpPr/>
          <p:nvPr/>
        </p:nvSpPr>
        <p:spPr>
          <a:xfrm rot="20880000">
            <a:off x="2441448" y="3749040"/>
            <a:ext cx="274320" cy="256032"/>
          </a:xfrm>
          <a:prstGeom prst="rightArrow">
            <a:avLst/>
          </a:prstGeom>
          <a:solidFill>
            <a:srgbClr val="B9C6DA"/>
          </a:solidFill>
          <a:ln/>
        </p:spPr>
      </p:sp>
      <p:sp>
        <p:nvSpPr>
          <p:cNvPr id="21" name="Shape 19"/>
          <p:cNvSpPr/>
          <p:nvPr/>
        </p:nvSpPr>
        <p:spPr>
          <a:xfrm>
            <a:off x="2743200" y="3520440"/>
            <a:ext cx="1783080" cy="457200"/>
          </a:xfrm>
          <a:prstGeom prst="roundRect">
            <a:avLst>
              <a:gd name="adj" fmla="val 14000"/>
            </a:avLst>
          </a:prstGeom>
          <a:solidFill>
            <a:srgbClr val="F4F6FB"/>
          </a:solidFill>
          <a:ln w="12700">
            <a:solidFill>
              <a:srgbClr val="DDE4EF"/>
            </a:solidFill>
            <a:prstDash val="solid"/>
          </a:ln>
          <a:effectLst>
            <a:outerShdw sx="100000" sy="100000" kx="0" ky="0" algn="bl" rotWithShape="0" blurRad="88900" dist="25400" dir="2700000">
              <a:srgbClr val="8A97AC">
                <a:alpha val="30000"/>
              </a:srgbClr>
            </a:outerShdw>
          </a:effectLst>
        </p:spPr>
      </p:sp>
      <p:sp>
        <p:nvSpPr>
          <p:cNvPr id="22" name="Text 20"/>
          <p:cNvSpPr/>
          <p:nvPr/>
        </p:nvSpPr>
        <p:spPr>
          <a:xfrm>
            <a:off x="2743200" y="3520440"/>
            <a:ext cx="1783080"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Arial" pitchFamily="34" charset="0"/>
                <a:ea typeface="Arial" pitchFamily="34" charset="-122"/>
                <a:cs typeface="Arial" pitchFamily="34" charset="-120"/>
              </a:rPr>
              <a:t>AutoPay</a:t>
            </a:r>
            <a:endParaRPr lang="en-US" sz="1050" dirty="0"/>
          </a:p>
        </p:txBody>
      </p:sp>
      <p:sp>
        <p:nvSpPr>
          <p:cNvPr id="23" name="Shape 21"/>
          <p:cNvSpPr/>
          <p:nvPr/>
        </p:nvSpPr>
        <p:spPr>
          <a:xfrm rot="20880000">
            <a:off x="4544568" y="3474720"/>
            <a:ext cx="274320" cy="256032"/>
          </a:xfrm>
          <a:prstGeom prst="rightArrow">
            <a:avLst/>
          </a:prstGeom>
          <a:solidFill>
            <a:srgbClr val="B9C6DA"/>
          </a:solidFill>
          <a:ln/>
        </p:spPr>
      </p:sp>
      <p:sp>
        <p:nvSpPr>
          <p:cNvPr id="24" name="Shape 22"/>
          <p:cNvSpPr/>
          <p:nvPr/>
        </p:nvSpPr>
        <p:spPr>
          <a:xfrm>
            <a:off x="4846320" y="3246120"/>
            <a:ext cx="1783080" cy="457200"/>
          </a:xfrm>
          <a:prstGeom prst="roundRect">
            <a:avLst>
              <a:gd name="adj" fmla="val 14000"/>
            </a:avLst>
          </a:prstGeom>
          <a:solidFill>
            <a:srgbClr val="F4F6FB"/>
          </a:solidFill>
          <a:ln w="12700">
            <a:solidFill>
              <a:srgbClr val="DDE4EF"/>
            </a:solidFill>
            <a:prstDash val="solid"/>
          </a:ln>
          <a:effectLst>
            <a:outerShdw sx="100000" sy="100000" kx="0" ky="0" algn="bl" rotWithShape="0" blurRad="88900" dist="25400" dir="2700000">
              <a:srgbClr val="8A97AC">
                <a:alpha val="30000"/>
              </a:srgbClr>
            </a:outerShdw>
          </a:effectLst>
        </p:spPr>
      </p:sp>
      <p:sp>
        <p:nvSpPr>
          <p:cNvPr id="25" name="Text 23"/>
          <p:cNvSpPr/>
          <p:nvPr/>
        </p:nvSpPr>
        <p:spPr>
          <a:xfrm>
            <a:off x="4846320" y="3246120"/>
            <a:ext cx="1783080"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Arial" pitchFamily="34" charset="0"/>
                <a:ea typeface="Arial" pitchFamily="34" charset="-122"/>
                <a:cs typeface="Arial" pitchFamily="34" charset="-120"/>
              </a:rPr>
              <a:t>Credit Score</a:t>
            </a:r>
            <a:endParaRPr lang="en-US" sz="1050" dirty="0"/>
          </a:p>
        </p:txBody>
      </p:sp>
      <p:sp>
        <p:nvSpPr>
          <p:cNvPr id="26" name="Shape 24"/>
          <p:cNvSpPr/>
          <p:nvPr/>
        </p:nvSpPr>
        <p:spPr>
          <a:xfrm rot="20880000">
            <a:off x="6647688" y="3200400"/>
            <a:ext cx="274320" cy="256032"/>
          </a:xfrm>
          <a:prstGeom prst="rightArrow">
            <a:avLst/>
          </a:prstGeom>
          <a:solidFill>
            <a:srgbClr val="B9C6DA"/>
          </a:solidFill>
          <a:ln/>
        </p:spPr>
      </p:sp>
      <p:sp>
        <p:nvSpPr>
          <p:cNvPr id="27" name="Shape 25"/>
          <p:cNvSpPr/>
          <p:nvPr/>
        </p:nvSpPr>
        <p:spPr>
          <a:xfrm>
            <a:off x="6949440" y="2971800"/>
            <a:ext cx="1783080" cy="457200"/>
          </a:xfrm>
          <a:prstGeom prst="roundRect">
            <a:avLst>
              <a:gd name="adj" fmla="val 14000"/>
            </a:avLst>
          </a:prstGeom>
          <a:solidFill>
            <a:srgbClr val="F4F6FB"/>
          </a:solidFill>
          <a:ln w="12700">
            <a:solidFill>
              <a:srgbClr val="DDE4EF"/>
            </a:solidFill>
            <a:prstDash val="solid"/>
          </a:ln>
          <a:effectLst>
            <a:outerShdw sx="100000" sy="100000" kx="0" ky="0" algn="bl" rotWithShape="0" blurRad="88900" dist="25400" dir="2700000">
              <a:srgbClr val="8A97AC">
                <a:alpha val="30000"/>
              </a:srgbClr>
            </a:outerShdw>
          </a:effectLst>
        </p:spPr>
      </p:sp>
      <p:sp>
        <p:nvSpPr>
          <p:cNvPr id="28" name="Text 26"/>
          <p:cNvSpPr/>
          <p:nvPr/>
        </p:nvSpPr>
        <p:spPr>
          <a:xfrm>
            <a:off x="6949440" y="2971800"/>
            <a:ext cx="1783080"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Arial" pitchFamily="34" charset="0"/>
                <a:ea typeface="Arial" pitchFamily="34" charset="-122"/>
                <a:cs typeface="Arial" pitchFamily="34" charset="-120"/>
              </a:rPr>
              <a:t>FD / SIP</a:t>
            </a:r>
            <a:endParaRPr lang="en-US" sz="1050" dirty="0"/>
          </a:p>
        </p:txBody>
      </p:sp>
      <p:sp>
        <p:nvSpPr>
          <p:cNvPr id="29" name="Text 27"/>
          <p:cNvSpPr/>
          <p:nvPr/>
        </p:nvSpPr>
        <p:spPr>
          <a:xfrm>
            <a:off x="457200" y="4370832"/>
            <a:ext cx="8229600" cy="502920"/>
          </a:xfrm>
          <a:prstGeom prst="rect">
            <a:avLst/>
          </a:prstGeom>
          <a:noFill/>
          <a:ln/>
        </p:spPr>
        <p:txBody>
          <a:bodyPr wrap="square" lIns="0" tIns="0" rIns="0" bIns="0" rtlCol="0" anchor="t"/>
          <a:lstStyle/>
          <a:p>
            <a:pPr marL="127000" indent="-127000">
              <a:lnSpc>
                <a:spcPct val="104000"/>
              </a:lnSpc>
              <a:spcAft>
                <a:spcPts val="500"/>
              </a:spcAft>
              <a:buSzPct val="100000"/>
              <a:buChar char="•"/>
            </a:pPr>
            <a:r>
              <a:rPr lang="en-US" sz="1000" dirty="0">
                <a:solidFill>
                  <a:srgbClr val="16243D"/>
                </a:solidFill>
                <a:latin typeface="Arial" pitchFamily="34" charset="0"/>
                <a:ea typeface="Arial" pitchFamily="34" charset="-122"/>
                <a:cs typeface="Arial" pitchFamily="34" charset="-120"/>
              </a:rPr>
              <a:t>Mission Control governs the whole base per-person, inside each user's attention budget</a:t>
            </a:r>
            <a:endParaRPr lang="en-US" sz="1000" dirty="0"/>
          </a:p>
          <a:p>
            <a:pPr marL="127000" indent="-127000">
              <a:lnSpc>
                <a:spcPct val="104000"/>
              </a:lnSpc>
              <a:spcAft>
                <a:spcPts val="500"/>
              </a:spcAft>
              <a:buSzPct val="100000"/>
              <a:buChar char="•"/>
            </a:pPr>
            <a:r>
              <a:rPr lang="en-US" sz="1000" dirty="0">
                <a:solidFill>
                  <a:srgbClr val="16243D"/>
                </a:solidFill>
                <a:latin typeface="Arial" pitchFamily="34" charset="0"/>
                <a:ea typeface="Arial" pitchFamily="34" charset="-122"/>
                <a:cs typeface="Arial" pitchFamily="34" charset="-120"/>
              </a:rPr>
              <a:t>The suitability filter, devil's-advocate pass and hash-chained audit trail travel with the framework — compliance is portable too</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126480" y="4873752"/>
            <a:ext cx="2560320" cy="201168"/>
          </a:xfrm>
          <a:prstGeom prst="rect">
            <a:avLst/>
          </a:prstGeom>
          <a:noFill/>
          <a:ln/>
        </p:spPr>
        <p:txBody>
          <a:bodyPr wrap="square" lIns="0" tIns="0" rIns="0" bIns="0" rtlCol="0" anchor="ctr"/>
          <a:lstStyle/>
          <a:p>
            <a:pPr algn="r" indent="0" marL="0">
              <a:buNone/>
            </a:pPr>
            <a:r>
              <a:rPr lang="en-US" sz="800" dirty="0">
                <a:solidFill>
                  <a:srgbClr val="6E82A3"/>
                </a:solidFill>
                <a:latin typeface="Arial" pitchFamily="34" charset="0"/>
                <a:ea typeface="Arial" pitchFamily="34" charset="-122"/>
                <a:cs typeface="Arial" pitchFamily="34" charset="-120"/>
              </a:rPr>
              <a:t>Diya · SBI Hackathon @ GFF 2026 · 14</a:t>
            </a:r>
            <a:endParaRPr lang="en-US" sz="800" dirty="0"/>
          </a:p>
        </p:txBody>
      </p:sp>
      <p:sp>
        <p:nvSpPr>
          <p:cNvPr id="3" name="Text 1"/>
          <p:cNvSpPr/>
          <p:nvPr/>
        </p:nvSpPr>
        <p:spPr>
          <a:xfrm>
            <a:off x="548640" y="502920"/>
            <a:ext cx="8046720" cy="91440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Diya turns SBI's biggest liabilities into its differentiator.</a:t>
            </a:r>
            <a:endParaRPr lang="en-US" sz="2700" dirty="0"/>
          </a:p>
        </p:txBody>
      </p:sp>
      <p:sp>
        <p:nvSpPr>
          <p:cNvPr id="4" name="Text 2"/>
          <p:cNvSpPr/>
          <p:nvPr/>
        </p:nvSpPr>
        <p:spPr>
          <a:xfrm>
            <a:off x="548640" y="1481328"/>
            <a:ext cx="8046720" cy="502920"/>
          </a:xfrm>
          <a:prstGeom prst="rect">
            <a:avLst/>
          </a:prstGeom>
          <a:noFill/>
          <a:ln/>
        </p:spPr>
        <p:txBody>
          <a:bodyPr wrap="square" lIns="0" tIns="0" rIns="0" bIns="0" rtlCol="0" anchor="ctr"/>
          <a:lstStyle/>
          <a:p>
            <a:pPr indent="0" marL="0">
              <a:buNone/>
            </a:pPr>
            <a:r>
              <a:rPr lang="en-US" sz="1300" dirty="0">
                <a:solidFill>
                  <a:srgbClr val="BFD4F2"/>
                </a:solidFill>
                <a:latin typeface="Arial" pitchFamily="34" charset="0"/>
                <a:ea typeface="Arial" pitchFamily="34" charset="-122"/>
                <a:cs typeface="Arial" pitchFamily="34" charset="-120"/>
              </a:rPr>
              <a:t>A distrusted insurance channel → an honest, audited guide.   A narrow shelf → the whole market.   Dormant users → confident ones.</a:t>
            </a:r>
            <a:endParaRPr lang="en-US" sz="1300" dirty="0"/>
          </a:p>
        </p:txBody>
      </p:sp>
      <p:sp>
        <p:nvSpPr>
          <p:cNvPr id="5" name="Shape 3"/>
          <p:cNvSpPr/>
          <p:nvPr/>
        </p:nvSpPr>
        <p:spPr>
          <a:xfrm>
            <a:off x="548640" y="2148840"/>
            <a:ext cx="1353312" cy="384048"/>
          </a:xfrm>
          <a:prstGeom prst="roundRect">
            <a:avLst>
              <a:gd name="adj" fmla="val 16667"/>
            </a:avLst>
          </a:prstGeom>
          <a:solidFill>
            <a:srgbClr val="10345F"/>
          </a:solidFill>
          <a:ln w="9525">
            <a:solidFill>
              <a:srgbClr val="3D8BFF"/>
            </a:solidFill>
            <a:prstDash val="solid"/>
          </a:ln>
        </p:spPr>
        <p:txBody>
          <a:bodyPr/>
          <a:p/>
        </p:txBody>
      </p:sp>
      <p:sp>
        <p:nvSpPr>
          <p:cNvPr id="6" name="Text 4"/>
          <p:cNvSpPr/>
          <p:nvPr/>
        </p:nvSpPr>
        <p:spPr>
          <a:xfrm>
            <a:off x="548640" y="2148840"/>
            <a:ext cx="1353312" cy="384048"/>
          </a:xfrm>
          <a:prstGeom prst="rect">
            <a:avLst/>
          </a:prstGeom>
          <a:noFill/>
          <a:ln/>
        </p:spPr>
        <p:txBody>
          <a:bodyPr wrap="square" lIns="0" tIns="0" rIns="0" bIns="0" rtlCol="0" anchor="ctr"/>
          <a:lstStyle/>
          <a:p>
            <a:pPr algn="ctr" indent="0" marL="0">
              <a:buNone/>
            </a:pPr>
            <a:r>
              <a:rPr lang="en-US" sz="950" b="1" dirty="0">
                <a:solidFill>
                  <a:srgbClr val="BFD4F2"/>
                </a:solidFill>
                <a:latin typeface="Arial" pitchFamily="34" charset="0"/>
                <a:ea typeface="Arial" pitchFamily="34" charset="-122"/>
                <a:cs typeface="Arial" pitchFamily="34" charset="-120"/>
              </a:rPr>
              <a:t>Honest</a:t>
            </a:r>
            <a:endParaRPr lang="en-US" sz="950" dirty="0"/>
          </a:p>
        </p:txBody>
      </p:sp>
      <p:sp>
        <p:nvSpPr>
          <p:cNvPr id="7" name="Shape 5"/>
          <p:cNvSpPr/>
          <p:nvPr/>
        </p:nvSpPr>
        <p:spPr>
          <a:xfrm>
            <a:off x="2029968" y="2148840"/>
            <a:ext cx="1353312" cy="384048"/>
          </a:xfrm>
          <a:prstGeom prst="roundRect">
            <a:avLst>
              <a:gd name="adj" fmla="val 16667"/>
            </a:avLst>
          </a:prstGeom>
          <a:solidFill>
            <a:srgbClr val="10345F"/>
          </a:solidFill>
          <a:ln w="9525">
            <a:solidFill>
              <a:srgbClr val="3D8BFF"/>
            </a:solidFill>
            <a:prstDash val="solid"/>
          </a:ln>
        </p:spPr>
        <p:txBody>
          <a:bodyPr/>
          <a:p/>
        </p:txBody>
      </p:sp>
      <p:sp>
        <p:nvSpPr>
          <p:cNvPr id="8" name="Text 6"/>
          <p:cNvSpPr/>
          <p:nvPr/>
        </p:nvSpPr>
        <p:spPr>
          <a:xfrm>
            <a:off x="2029968" y="2148840"/>
            <a:ext cx="1353312" cy="384048"/>
          </a:xfrm>
          <a:prstGeom prst="rect">
            <a:avLst/>
          </a:prstGeom>
          <a:noFill/>
          <a:ln/>
        </p:spPr>
        <p:txBody>
          <a:bodyPr wrap="square" lIns="0" tIns="0" rIns="0" bIns="0" rtlCol="0" anchor="ctr"/>
          <a:lstStyle/>
          <a:p>
            <a:pPr algn="ctr" indent="0" marL="0">
              <a:buNone/>
            </a:pPr>
            <a:r>
              <a:rPr lang="en-US" sz="950" b="1" dirty="0">
                <a:solidFill>
                  <a:srgbClr val="BFD4F2"/>
                </a:solidFill>
                <a:latin typeface="Arial" pitchFamily="34" charset="0"/>
                <a:ea typeface="Arial" pitchFamily="34" charset="-122"/>
                <a:cs typeface="Arial" pitchFamily="34" charset="-120"/>
              </a:rPr>
              <a:t>Agentic</a:t>
            </a:r>
            <a:endParaRPr lang="en-US" sz="950" dirty="0"/>
          </a:p>
        </p:txBody>
      </p:sp>
      <p:sp>
        <p:nvSpPr>
          <p:cNvPr id="9" name="Shape 7"/>
          <p:cNvSpPr/>
          <p:nvPr/>
        </p:nvSpPr>
        <p:spPr>
          <a:xfrm>
            <a:off x="3511296" y="2148840"/>
            <a:ext cx="1353312" cy="384048"/>
          </a:xfrm>
          <a:prstGeom prst="roundRect">
            <a:avLst>
              <a:gd name="adj" fmla="val 16667"/>
            </a:avLst>
          </a:prstGeom>
          <a:solidFill>
            <a:srgbClr val="10345F"/>
          </a:solidFill>
          <a:ln w="9525">
            <a:solidFill>
              <a:srgbClr val="3D8BFF"/>
            </a:solidFill>
            <a:prstDash val="solid"/>
          </a:ln>
        </p:spPr>
        <p:txBody>
          <a:bodyPr/>
          <a:p/>
        </p:txBody>
      </p:sp>
      <p:sp>
        <p:nvSpPr>
          <p:cNvPr id="10" name="Text 8"/>
          <p:cNvSpPr/>
          <p:nvPr/>
        </p:nvSpPr>
        <p:spPr>
          <a:xfrm>
            <a:off x="3511296" y="2148840"/>
            <a:ext cx="1353312" cy="384048"/>
          </a:xfrm>
          <a:prstGeom prst="rect">
            <a:avLst/>
          </a:prstGeom>
          <a:noFill/>
          <a:ln/>
        </p:spPr>
        <p:txBody>
          <a:bodyPr wrap="square" lIns="0" tIns="0" rIns="0" bIns="0" rtlCol="0" anchor="ctr"/>
          <a:lstStyle/>
          <a:p>
            <a:pPr algn="ctr" indent="0" marL="0">
              <a:buNone/>
            </a:pPr>
            <a:r>
              <a:rPr lang="en-US" sz="950" b="1" dirty="0">
                <a:solidFill>
                  <a:srgbClr val="BFD4F2"/>
                </a:solidFill>
                <a:latin typeface="Arial" pitchFamily="34" charset="0"/>
                <a:ea typeface="Arial" pitchFamily="34" charset="-122"/>
                <a:cs typeface="Arial" pitchFamily="34" charset="-120"/>
              </a:rPr>
              <a:t>Consent-first</a:t>
            </a:r>
            <a:endParaRPr lang="en-US" sz="950" dirty="0"/>
          </a:p>
        </p:txBody>
      </p:sp>
      <p:sp>
        <p:nvSpPr>
          <p:cNvPr id="11" name="Shape 9"/>
          <p:cNvSpPr/>
          <p:nvPr/>
        </p:nvSpPr>
        <p:spPr>
          <a:xfrm>
            <a:off x="4992624" y="2148840"/>
            <a:ext cx="1353312" cy="384048"/>
          </a:xfrm>
          <a:prstGeom prst="roundRect">
            <a:avLst>
              <a:gd name="adj" fmla="val 16667"/>
            </a:avLst>
          </a:prstGeom>
          <a:solidFill>
            <a:srgbClr val="10345F"/>
          </a:solidFill>
          <a:ln w="9525">
            <a:solidFill>
              <a:srgbClr val="3D8BFF"/>
            </a:solidFill>
            <a:prstDash val="solid"/>
          </a:ln>
        </p:spPr>
        <p:txBody>
          <a:bodyPr/>
          <a:p/>
        </p:txBody>
      </p:sp>
      <p:sp>
        <p:nvSpPr>
          <p:cNvPr id="12" name="Text 10"/>
          <p:cNvSpPr/>
          <p:nvPr/>
        </p:nvSpPr>
        <p:spPr>
          <a:xfrm>
            <a:off x="4992624" y="2148840"/>
            <a:ext cx="1353312" cy="384048"/>
          </a:xfrm>
          <a:prstGeom prst="rect">
            <a:avLst/>
          </a:prstGeom>
          <a:noFill/>
          <a:ln/>
        </p:spPr>
        <p:txBody>
          <a:bodyPr wrap="square" lIns="0" tIns="0" rIns="0" bIns="0" rtlCol="0" anchor="ctr"/>
          <a:lstStyle/>
          <a:p>
            <a:pPr algn="ctr" indent="0" marL="0">
              <a:buNone/>
            </a:pPr>
            <a:r>
              <a:rPr lang="en-US" sz="950" b="1" dirty="0">
                <a:solidFill>
                  <a:srgbClr val="BFD4F2"/>
                </a:solidFill>
                <a:latin typeface="Arial" pitchFamily="34" charset="0"/>
                <a:ea typeface="Arial" pitchFamily="34" charset="-122"/>
                <a:cs typeface="Arial" pitchFamily="34" charset="-120"/>
              </a:rPr>
              <a:t>Audit-ready</a:t>
            </a:r>
            <a:endParaRPr lang="en-US" sz="950" dirty="0"/>
          </a:p>
        </p:txBody>
      </p:sp>
      <p:sp>
        <p:nvSpPr>
          <p:cNvPr id="13" name="Shape 11"/>
          <p:cNvSpPr/>
          <p:nvPr/>
        </p:nvSpPr>
        <p:spPr>
          <a:xfrm>
            <a:off x="6473952" y="2148840"/>
            <a:ext cx="1353312" cy="384048"/>
          </a:xfrm>
          <a:prstGeom prst="roundRect">
            <a:avLst>
              <a:gd name="adj" fmla="val 16667"/>
            </a:avLst>
          </a:prstGeom>
          <a:solidFill>
            <a:srgbClr val="10345F"/>
          </a:solidFill>
          <a:ln w="9525">
            <a:solidFill>
              <a:srgbClr val="3D8BFF"/>
            </a:solidFill>
            <a:prstDash val="solid"/>
          </a:ln>
        </p:spPr>
        <p:txBody>
          <a:bodyPr/>
          <a:p/>
        </p:txBody>
      </p:sp>
      <p:sp>
        <p:nvSpPr>
          <p:cNvPr id="14" name="Text 12"/>
          <p:cNvSpPr/>
          <p:nvPr/>
        </p:nvSpPr>
        <p:spPr>
          <a:xfrm>
            <a:off x="6473952" y="2148840"/>
            <a:ext cx="1353312" cy="384048"/>
          </a:xfrm>
          <a:prstGeom prst="rect">
            <a:avLst/>
          </a:prstGeom>
          <a:noFill/>
          <a:ln/>
        </p:spPr>
        <p:txBody>
          <a:bodyPr wrap="square" lIns="0" tIns="0" rIns="0" bIns="0" rtlCol="0" anchor="ctr"/>
          <a:lstStyle/>
          <a:p>
            <a:pPr algn="ctr" indent="0" marL="0">
              <a:buNone/>
            </a:pPr>
            <a:r>
              <a:rPr lang="en-US" sz="950" b="1" dirty="0">
                <a:solidFill>
                  <a:srgbClr val="BFD4F2"/>
                </a:solidFill>
                <a:latin typeface="Arial" pitchFamily="34" charset="0"/>
                <a:ea typeface="Arial" pitchFamily="34" charset="-122"/>
                <a:cs typeface="Arial" pitchFamily="34" charset="-120"/>
              </a:rPr>
              <a:t>Vernacular + voice</a:t>
            </a:r>
            <a:endParaRPr lang="en-US" sz="950" dirty="0"/>
          </a:p>
        </p:txBody>
      </p:sp>
      <p:sp>
        <p:nvSpPr>
          <p:cNvPr id="15" name="Text 13"/>
          <p:cNvSpPr/>
          <p:nvPr/>
        </p:nvSpPr>
        <p:spPr>
          <a:xfrm>
            <a:off x="548640" y="2880360"/>
            <a:ext cx="5760720" cy="5486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3-minute demo:  </a:t>
            </a:r>
            <a:pPr indent="0" marL="0">
              <a:buNone/>
            </a:pPr>
            <a:r>
              <a:rPr lang="en-US" sz="1150" dirty="0">
                <a:solidFill>
                  <a:srgbClr val="8FA6C8"/>
                </a:solidFill>
                <a:latin typeface="Arial" pitchFamily="34" charset="0"/>
                <a:ea typeface="Arial" pitchFamily="34" charset="-122"/>
                <a:cs typeface="Arial" pitchFamily="34" charset="-120"/>
              </a:rPr>
              <a:t>Flow B honest comparison → reverse mis-selling flag → Guardian co-consent → Mission Control compliance view</a:t>
            </a:r>
            <a:endParaRPr lang="en-US" sz="1150" dirty="0"/>
          </a:p>
        </p:txBody>
      </p:sp>
      <p:sp>
        <p:nvSpPr>
          <p:cNvPr id="16" name="Text 14"/>
          <p:cNvSpPr/>
          <p:nvPr/>
        </p:nvSpPr>
        <p:spPr>
          <a:xfrm>
            <a:off x="548640" y="3520440"/>
            <a:ext cx="576072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Try it live:  </a:t>
            </a:r>
            <a:pPr indent="0" marL="0">
              <a:buNone/>
            </a:pPr>
            <a:r>
              <a:rPr lang="en-US" sz="1400" b="1" dirty="0">
                <a:solidFill>
                  <a:srgbClr val="0FB98A"/>
                </a:solidFill>
                <a:latin typeface="Arial" pitchFamily="34" charset="0"/>
                <a:ea typeface="Arial" pitchFamily="34" charset="-122"/>
                <a:cs typeface="Arial" pitchFamily="34" charset="-120"/>
              </a:rPr>
              <a:t>saarthi-nu.vercel.app</a:t>
            </a:r>
            <a:endParaRPr lang="en-US" sz="1400" dirty="0"/>
          </a:p>
        </p:txBody>
      </p:sp>
      <p:sp>
        <p:nvSpPr>
          <p:cNvPr id="17" name="Text 15"/>
          <p:cNvSpPr/>
          <p:nvPr/>
        </p:nvSpPr>
        <p:spPr>
          <a:xfrm>
            <a:off x="548640" y="4160520"/>
            <a:ext cx="3657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Thank you.</a:t>
            </a:r>
            <a:endParaRPr lang="en-US" sz="1600" dirty="0"/>
          </a:p>
        </p:txBody>
      </p:sp>
      <p:sp>
        <p:nvSpPr>
          <p:cNvPr id="18" name="Shape 16"/>
          <p:cNvSpPr/>
          <p:nvPr/>
        </p:nvSpPr>
        <p:spPr>
          <a:xfrm>
            <a:off x="6675120" y="2743200"/>
            <a:ext cx="1920240" cy="1920240"/>
          </a:xfrm>
          <a:prstGeom prst="roundRect">
            <a:avLst>
              <a:gd name="adj" fmla="val 2857"/>
            </a:avLst>
          </a:prstGeom>
          <a:solidFill>
            <a:srgbClr val="10345F"/>
          </a:solidFill>
          <a:ln w="15875">
            <a:noFill/>
            <a:prstDash val="dash"/>
          </a:ln>
        </p:spPr>
        <p:txBody>
          <a:bodyPr/>
          <a:p/>
        </p:txBody>
      </p:sp>
      <p:pic>
        <p:nvPicPr>
          <p:cNvPr id="20" name="Picture 19" descr="deck_qr.png"/>
          <p:cNvPicPr>
            <a:picLocks noChangeAspect="1"/>
          </p:cNvPicPr>
          <p:nvPr/>
        </p:nvPicPr>
        <p:blipFill>
          <a:blip r:embed="rId3"/>
          <a:stretch>
            <a:fillRect/>
          </a:stretch>
        </p:blipFill>
        <p:spPr>
          <a:xfrm>
            <a:off x="6703923" y="2772003"/>
            <a:ext cx="1862632" cy="18626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1050" b="1" spc="300" kern="0" dirty="0">
                <a:solidFill>
                  <a:srgbClr val="1755C4"/>
                </a:solidFill>
                <a:latin typeface="Arial" pitchFamily="34" charset="0"/>
                <a:ea typeface="Arial" pitchFamily="34" charset="-122"/>
                <a:cs typeface="Arial" pitchFamily="34" charset="-120"/>
              </a:rPr>
              <a:t>APPENDIX — PRODUCTION CHECKLIST (HIDDEN SLIDE)</a:t>
            </a:r>
            <a:endParaRPr lang="en-US" sz="1050" dirty="0"/>
          </a:p>
        </p:txBody>
      </p:sp>
      <p:sp>
        <p:nvSpPr>
          <p:cNvPr id="3" name="Text 1"/>
          <p:cNvSpPr/>
          <p:nvPr/>
        </p:nvSpPr>
        <p:spPr>
          <a:xfrm>
            <a:off x="457200" y="457200"/>
            <a:ext cx="8229600" cy="384048"/>
          </a:xfrm>
          <a:prstGeom prst="rect">
            <a:avLst/>
          </a:prstGeom>
          <a:noFill/>
          <a:ln/>
        </p:spPr>
        <p:txBody>
          <a:bodyPr wrap="square" lIns="0" tIns="0" rIns="0" bIns="0" rtlCol="0" anchor="t"/>
          <a:lstStyle/>
          <a:p>
            <a:pPr indent="0" marL="0">
              <a:buNone/>
            </a:pPr>
            <a:r>
              <a:rPr lang="en-US" sz="1900" b="1" dirty="0">
                <a:solidFill>
                  <a:srgbClr val="0B1F3A"/>
                </a:solidFill>
                <a:latin typeface="Arial" pitchFamily="34" charset="0"/>
                <a:ea typeface="Arial" pitchFamily="34" charset="-122"/>
                <a:cs typeface="Arial" pitchFamily="34" charset="-120"/>
              </a:rPr>
              <a:t>Screenshot placeholders to swap in once the features land.</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554480"/>
                <a:gridCol w="3108960"/>
                <a:gridCol w="356616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Slide</a:t>
                      </a:r>
                      <a:endParaRPr lang="en-US" sz="95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Placeholder</a:t>
                      </a:r>
                      <a:endParaRPr lang="en-US" sz="95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How to capture</a:t>
                      </a:r>
                      <a:endParaRPr lang="en-US" sz="95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solidFill>
                      <a:srgbClr val="0B1F3A"/>
                    </a:solidFill>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6 — Hero demo (Flow B)</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Flow B honest comparison — amber “where the competitor wins” row + “Do nothing” column</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Premium Leaker persona → “See the honest comparison”; include the amber competitor-wins box and the Do-nothing column</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7 — Reverse mis-selling detector</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Reverse mis-selling nudge card — ULIP flagged, exit-vs-stay path with surrender math</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Persona holding a legacy ULIP → Diya flags it; capture the exit-vs-stay card incl. free-look/surrender window and “Talk to a human”</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8 — Transparency stack</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“Why am I seeing this?” card — incl. the devil's-advocate objection the nudge survived</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Any persona → tap “Why am I seeing this?”; capture trigger + honest math + data used + the surviving adversarial objection</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9 — Agentic restraint</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Mission Control feed — nudged vs. held-back decisions, with per-user attention-budget meters</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Toggle to Mission Control; capture the sweep feed showing held-back users + the 4-dot budget meters</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10 — Inclusion &amp; protection</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Hindi nudge card with voice read-aloud active</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Any persona → toggle हिंदी + tap the speaker icon; capture the Hindi card with voice indicator</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10 — Inclusion &amp; protection</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Guardian co-consent — approval request on the family member's device</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Assisted-user persona → accept an above-threshold nudge; capture the second-device co-approval screen</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12 — Business potential / compliance</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Compliance view — hash-chained audit log + verify endpoint</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Mission Control → Compliance tab; capture the certificate chain with hashes and the verify status</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r h="384048">
                <a:tc>
                  <a:txBody>
                    <a:bodyPr/>
                    <a:lstStyle/>
                    <a:p>
                      <a:pPr indent="0" marL="0">
                        <a:buNone/>
                      </a:pPr>
                      <a:r>
                        <a:rPr lang="en-US" sz="860" dirty="0">
                          <a:solidFill>
                            <a:srgbClr val="16243D"/>
                          </a:solidFill>
                          <a:latin typeface="Arial" pitchFamily="34" charset="0"/>
                          <a:ea typeface="Arial" pitchFamily="34" charset="-122"/>
                          <a:cs typeface="Arial" pitchFamily="34" charset="-120"/>
                        </a:rPr>
                        <a:t>14 — Close</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16243D"/>
                          </a:solidFill>
                          <a:latin typeface="Arial" pitchFamily="34" charset="0"/>
                          <a:ea typeface="Arial" pitchFamily="34" charset="-122"/>
                          <a:cs typeface="Arial" pitchFamily="34" charset="-120"/>
                        </a:rPr>
                        <a:t>QR code → saarthi-nu.vercel.app</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c>
                  <a:txBody>
                    <a:bodyPr/>
                    <a:lstStyle/>
                    <a:p>
                      <a:pPr indent="0" marL="0">
                        <a:buNone/>
                      </a:pPr>
                      <a:r>
                        <a:rPr lang="en-US" sz="860" dirty="0">
                          <a:solidFill>
                            <a:srgbClr val="5B6B84"/>
                          </a:solidFill>
                          <a:latin typeface="Arial" pitchFamily="34" charset="0"/>
                          <a:ea typeface="Arial" pitchFamily="34" charset="-122"/>
                          <a:cs typeface="Arial" pitchFamily="34" charset="-120"/>
                        </a:rPr>
                        <a:t>Generate a QR for https://saarthi-nu.vercel.app and drop it into the dashed box</a:t>
                      </a:r>
                      <a:endParaRPr lang="en-US" sz="860" dirty="0">
                        <a:latin typeface="Arial" charset="0"/>
                        <a:ea typeface="Arial" charset="0"/>
                        <a:cs typeface="Arial" charset="0"/>
                      </a:endParaRPr>
                    </a:p>
                  </a:txBody>
                  <a:tcPr marL="45720" marR="45720" marT="45720" marB="45720" anchor="ctr">
                    <a:lnL w="6350" cap="flat" cmpd="sng" algn="ctr">
                      <a:solidFill>
                        <a:srgbClr val="DDE4EF"/>
                      </a:solidFill>
                      <a:prstDash val="solid"/>
                      <a:round/>
                      <a:headEnd type="none" w="med" len="med"/>
                      <a:tailEnd type="none" w="med" len="med"/>
                    </a:lnL>
                    <a:lnR w="6350" cap="flat" cmpd="sng" algn="ctr">
                      <a:solidFill>
                        <a:srgbClr val="DDE4EF"/>
                      </a:solidFill>
                      <a:prstDash val="solid"/>
                      <a:round/>
                      <a:headEnd type="none" w="med" len="med"/>
                      <a:tailEnd type="none" w="med" len="med"/>
                    </a:lnR>
                    <a:lnT w="6350" cap="flat" cmpd="sng" algn="ctr">
                      <a:solidFill>
                        <a:srgbClr val="DDE4EF"/>
                      </a:solidFill>
                      <a:prstDash val="solid"/>
                      <a:round/>
                      <a:headEnd type="none" w="med" len="med"/>
                      <a:tailEnd type="none" w="med" len="med"/>
                    </a:lnT>
                    <a:lnB w="6350" cap="flat" cmpd="sng" algn="ctr">
                      <a:solidFill>
                        <a:srgbClr val="DDE4EF"/>
                      </a:solidFill>
                      <a:prstDash val="solid"/>
                      <a:round/>
                      <a:headEnd type="none" w="med" len="med"/>
                      <a:tailEnd type="none" w="med" len="med"/>
                    </a:lnB>
                  </a:tcPr>
                </a:tc>
              </a:tr>
            </a:tbl>
          </a:graphicData>
        </a:graphic>
      </p:graphicFrame>
      <p:sp>
        <p:nvSpPr>
          <p:cNvPr id="5" name="Text 2"/>
          <p:cNvSpPr/>
          <p:nvPr/>
        </p:nvSpPr>
        <p:spPr>
          <a:xfrm>
            <a:off x="457200" y="4617720"/>
            <a:ext cx="8229600" cy="411480"/>
          </a:xfrm>
          <a:prstGeom prst="rect">
            <a:avLst/>
          </a:prstGeom>
          <a:noFill/>
          <a:ln/>
        </p:spPr>
        <p:txBody>
          <a:bodyPr wrap="square" lIns="0" tIns="0" rIns="0" bIns="0" rtlCol="0" anchor="ctr"/>
          <a:lstStyle/>
          <a:p>
            <a:pPr indent="0" marL="0">
              <a:buNone/>
            </a:pPr>
            <a:r>
              <a:rPr lang="en-US" sz="900" i="1" dirty="0">
                <a:solidFill>
                  <a:srgbClr val="5B6B84"/>
                </a:solidFill>
                <a:latin typeface="Arial" pitchFamily="34" charset="0"/>
                <a:ea typeface="Arial" pitchFamily="34" charset="-122"/>
                <a:cs typeface="Arial" pitchFamily="34" charset="-120"/>
              </a:rPr>
              <a:t>Capture at 100% zoom from the live site (or locally with ANTHROPIC_API_KEY set for the “LLM live” badge). Keep rules/LLM badge consistent across shots.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Diya — Agentic Adoption Copilot for YONO</dc:title>
  <dc:subject>PptxGenJS Presentation</dc:subject>
  <dc:creator>Team Diya</dc:creator>
  <cp:lastModifiedBy>Team Diya</cp:lastModifiedBy>
  <cp:revision>1</cp:revision>
  <dcterms:created xsi:type="dcterms:W3CDTF">2026-07-02T10:45:52Z</dcterms:created>
  <dcterms:modified xsi:type="dcterms:W3CDTF">2026-07-02T10:45:52Z</dcterms:modified>
</cp:coreProperties>
</file>