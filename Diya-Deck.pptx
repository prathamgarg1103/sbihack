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B6B82"/>
                </a:solidFill>
                <a:latin typeface="Arial"/>
              </a:rPr>
              <a:t>Adoption uplift across three dimensions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index (illustrative)</c:v>
                </c:pt>
              </c:strCache>
            </c:strRef>
          </c:tx>
          <c:spPr>
            <a:solidFill>
              <a:srgbClr val="1755C4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Today</c:v>
                  </c:pt>
                  <c:pt idx="1">
                    <c:v>Product</c:v>
                  </c:pt>
                  <c:pt idx="2">
                    <c:v>Platform</c:v>
                  </c:pt>
                  <c:pt idx="3">
                    <c:v>Engagement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128</c:v>
                </c:pt>
                <c:pt idx="2">
                  <c:v>150</c:v>
                </c:pt>
                <c:pt idx="3">
                  <c:v>172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Diya — an agentic AI copilot inside YONO that fixes the two things stopping people going deeper: discovery and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85M users; most never go past UPI. The deeper features that help people and earn fee income stay invisible or distrusted.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wounds: insurance mis-selling and a self-dealing investing shelf. But 91% are open — demand is fine, the channel is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pitch mis-selling remediation disguised as an adoption engine. Honesty becomes the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continuous perceive-reason-act-learn loop over the user's own consented transactions. Honest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Claude tool-calling loop. It will suppress rather than nag, and logs every step. ULIPs auto-blocked.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→ FastAPI → trigger/agent/RAG/suitability/feedback → Claude. Grounded, guardrailed, and it learns.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journeys across product, platform, investment and engagement adoption — one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proof: the row where the competitor wins, shown next to where SBI is cheaper. No invented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is the precondition that makes honest guidance credible. Diya flags non-SBI winners; SBI still earns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× guidance 2x2. YONO+Diya is the only quadrant with both — a category of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Explainability, consent, human off-ramp, vernacular+voice, ULIP block — and a visible learn loop that climbs the ladder.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Control runs the agent across every user at once — nudge, hold back, or stay silent. That's the scale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~₹100cr/quarter today; Diya lifts it across three dimensions and de-risks it. Dormant reactivation is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runs today: live Claude agent loop, grounded RAG, hard suitability filter, learning store. 26 tests,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Diya makes SBI's two biggest liabilities the reason to choose YONO. It's live now — scan to try it.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1264" y="1097280"/>
            <a:ext cx="1097280" cy="1097280"/>
          </a:xfrm>
          <a:prstGeom prst="ellipse">
            <a:avLst/>
          </a:prstGeom>
          <a:solidFill>
            <a:srgbClr val="0FB98A"/>
          </a:solidFill>
          <a:ln/>
        </p:spPr>
      </p:sp>
      <p:sp>
        <p:nvSpPr>
          <p:cNvPr id="3" name="Text 1"/>
          <p:cNvSpPr/>
          <p:nvPr/>
        </p:nvSpPr>
        <p:spPr>
          <a:xfrm>
            <a:off x="5541264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Adoption Copilot for YONO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397764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 AI that turns dormant users into confident ones — by moving the sale from a coercive human channel to an honest, consented, explainable digital one.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[Member names]  ·  SBI Hackathon @ GFF 2026 — AI &amp; Emerging Tech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million users. Most only tap UPI.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85M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76656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YONO users; SBI wants 50% of its ~500M base.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" y="35204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YONO already has investing, insurance, bill-pay &amp; credit score — but the deep journeys go undiscovered.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touch only UPI + balance-check; the rest stays invisible.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products that drive revenue are sold through a channel people have learned to distrust.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E9F1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0" y="1783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SURFACE  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· Balance check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2788920"/>
            <a:ext cx="557784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— UNDISCOVERED (where the value is)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4747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 ·  Insurance  ·  Bill Pay  ·  AutoPay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 ·  Card Controls  ·  Sweep FD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planned journeys ('YONOnisation')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isn't a demand problem. It's a trust problem.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CEFD6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1 — INSURANCE (the trust wound)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mis-selling complaints in a single year — banks are the most-complained channel.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coercion: forced policies to open accounts/lockers; pensioners duped.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has issued internal directives — it's under pressure to fix this now.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53912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E9F1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2 — INVESTING (self-dealing)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8232" y="21214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&amp; SBI-skewed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28232" y="27889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YONO foregrounds SBI's own funds, so anyone wanting choice leaves for Groww/Zerodha.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products ship on third-party apps — no exclusivity moat.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competes on experience and loses.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5230368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30368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account-holders are open to transaction-based offers — the channel is broken, not the demand.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cross-sell. </a:t>
            </a:r>
            <a:pPr algn="ctr" indent="0" marL="0">
              <a:buNone/>
            </a:pPr>
            <a:r>
              <a:rPr lang="en-US" sz="36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Mis-selling remediation 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as an adoption engine.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274320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00200" y="27432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
</a:t>
            </a:r>
            <a:endParaRPr lang="en-US" sz="1200" dirty="0"/>
          </a:p>
          <a:p>
            <a:pPr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coercive, target-driven human channel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40680" y="274320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49440" y="274320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7432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
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consented, suitability-filtered, explainable digital copilot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800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is the moat.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lifts adoption AND removes the mis-selling risk SBI is under regulatory pressure to fix.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DIYA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your own transactions — and co-pilots the journey you'd never find alone.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1783080" cy="1783080"/>
          </a:xfrm>
          <a:prstGeom prst="ellipse">
            <a:avLst/>
          </a:prstGeom>
          <a:solidFill>
            <a:srgbClr val="E9F1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
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txn signals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97480" y="2468880"/>
            <a:ext cx="777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74720" y="2468880"/>
            <a:ext cx="1783080" cy="1783080"/>
          </a:xfrm>
          <a:prstGeom prst="ellipse">
            <a:avLst/>
          </a:prstGeom>
          <a:solidFill>
            <a:srgbClr val="EAEFF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46888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
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it? which fits?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57800" y="2468880"/>
            <a:ext cx="777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035040" y="2468880"/>
            <a:ext cx="1783080" cy="1783080"/>
          </a:xfrm>
          <a:prstGeom prst="ellipse">
            <a:avLst/>
          </a:prstGeom>
          <a:solidFill>
            <a:srgbClr val="E4F7F1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46888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
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honest, vernacular nudge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18120" y="2468880"/>
            <a:ext cx="777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95360" y="2468880"/>
            <a:ext cx="1783080" cy="1783080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246888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
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/ skipped / escalated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908792" cy="1143000"/>
          </a:xfrm>
          <a:prstGeom prst="roundRect">
            <a:avLst>
              <a:gd name="adj" fmla="val 96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70916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nudge ships with:  </a:t>
            </a:r>
            <a:pPr algn="ctr"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 ·  the honest math (incl. charges)  ·  what's NOT covered  ·  'Talk to a human.'   In Hindi/English. Read aloud.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CORE — THE JUDGES' #1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— not a chatbot.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Claude (claude-sonnet-4-6) tool-calling loop decides whether, what, and when.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choose to do nothing — suppresses a low-value nudge rather than nag.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&amp; visible — you watch it reason, live.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315968"/>
            <a:ext cx="5486400" cy="438912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315968"/>
            <a:ext cx="5486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query_rag  — grounding (anti-hallucination)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864608"/>
            <a:ext cx="5486400" cy="438912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864608"/>
            <a:ext cx="5486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check_suitability  — hard rules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413248"/>
            <a:ext cx="5486400" cy="438912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413248"/>
            <a:ext cx="5486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build_comparison  — honest, like-for-like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332720" y="193852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E4F7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0" y="1938528"/>
            <a:ext cx="10058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live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423160"/>
            <a:ext cx="109728" cy="109728"/>
          </a:xfrm>
          <a:prstGeom prst="ellipse">
            <a:avLst/>
          </a:prstGeom>
          <a:solidFill>
            <a:srgbClr val="5B6B82"/>
          </a:solidFill>
          <a:ln/>
        </p:spPr>
      </p:sp>
      <p:sp>
        <p:nvSpPr>
          <p:cNvPr id="17" name="Text 15"/>
          <p:cNvSpPr/>
          <p:nvPr/>
        </p:nvSpPr>
        <p:spPr>
          <a:xfrm>
            <a:off x="6967728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67728" y="25603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candidate moments for Rahul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3026664"/>
            <a:ext cx="109728" cy="109728"/>
          </a:xfrm>
          <a:prstGeom prst="ellipse">
            <a:avLst/>
          </a:prstGeom>
          <a:solidFill>
            <a:srgbClr val="1755C4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2980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67728" y="31638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query_rag() → sbi-life, hdfc-life, csr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3630168"/>
            <a:ext cx="109728" cy="109728"/>
          </a:xfrm>
          <a:prstGeom prst="ellipse">
            <a:avLst/>
          </a:prstGeom>
          <a:solidFill>
            <a:srgbClr val="1755C4"/>
          </a:solidFill>
          <a:ln/>
        </p:spPr>
      </p:sp>
      <p:sp>
        <p:nvSpPr>
          <p:cNvPr id="23" name="Text 21"/>
          <p:cNvSpPr/>
          <p:nvPr/>
        </p:nvSpPr>
        <p:spPr>
          <a:xfrm>
            <a:off x="6967728" y="3584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67728" y="37673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check_suitability() → suitable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66560" y="4233672"/>
            <a:ext cx="109728" cy="109728"/>
          </a:xfrm>
          <a:prstGeom prst="ellipse">
            <a:avLst/>
          </a:prstGeom>
          <a:solidFill>
            <a:srgbClr val="1755C4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4187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67728" y="43708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build_comparison() → competitor wins: CSR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4837176"/>
            <a:ext cx="109728" cy="109728"/>
          </a:xfrm>
          <a:prstGeom prst="ellipse">
            <a:avLst/>
          </a:prstGeom>
          <a:solidFill>
            <a:srgbClr val="0FB98A"/>
          </a:solidFill>
          <a:ln/>
        </p:spPr>
      </p:sp>
      <p:sp>
        <p:nvSpPr>
          <p:cNvPr id="29" name="Text 27"/>
          <p:cNvSpPr/>
          <p:nvPr/>
        </p:nvSpPr>
        <p:spPr>
          <a:xfrm>
            <a:off x="6967728" y="4791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67728" y="49743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premium-leak in EN/हिं + Skip + human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54406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4F7F1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440680"/>
            <a:ext cx="1828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surface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5669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 ULIPs auto-blocked · no ungrounded numbers · consent-first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architecture — perceive → reason → act → learn.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77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YONO app
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237744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98064" y="23774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9504" y="2377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engine
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 classify + thresholds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26864" y="237744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956048" y="23774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E4F7F1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47488" y="2377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
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tool-calling loop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84848" y="237744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114032" y="23774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CEFD6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05472" y="2377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Suitability
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corpus · hard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42832" y="237744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272016" y="23774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63456" y="2377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store
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the learn loop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10908792" cy="146304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4805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Grounding: every premium/rate/fee is retrieved from a cited corpus — the LLM can't invent numbers.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filter hard-blocks ULIPs, over-budget and recently-skipped — even if asked.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(adopted/skipped/escalated) tunes thresholds &amp; advances the adoption ladder.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secret required to run: ANTHROPIC_API_KEY · synthetic data only · deterministic fallback when no key.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journeys, one reusable framework.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  <a:gridCol w="4050792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(from your own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Diya's honest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₹47k idle 150+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Sweep-FD vs 2.7% savings — honest math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★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₹1,240/mo to a competitor insurer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Side-by-side honest comparison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jump ₹35k → ₹55k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Open-shelf investing — the whole market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a bill in another app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in-YONO walkthrough + ladder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renews in 3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→ invest the savings to a goal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Flow B is the hero. Flow C is the open-shelf investment story. All run on the same agent loop — the framework scales to YONO's 100+ journeys.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— FLOW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the row where the competitor wins.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77440" cy="4297680"/>
          </a:xfrm>
          <a:prstGeom prst="roundRect">
            <a:avLst>
              <a:gd name="adj" fmla="val 846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2157984" cy="4078224"/>
          </a:xfrm>
          <a:prstGeom prst="roundRect">
            <a:avLst>
              <a:gd name="adj" fmla="val 6780"/>
            </a:avLst>
          </a:prstGeom>
          <a:solidFill>
            <a:srgbClr val="EAF0F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92808"/>
            <a:ext cx="2157984" cy="914400"/>
          </a:xfrm>
          <a:prstGeom prst="roundRect">
            <a:avLst>
              <a:gd name="adj" fmla="val 16000"/>
            </a:avLst>
          </a:prstGeom>
          <a:solidFill>
            <a:srgbClr val="1755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208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185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Verma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₹16,669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6112" y="3154680"/>
            <a:ext cx="1865376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3300984"/>
            <a:ext cx="237744" cy="237744"/>
          </a:xfrm>
          <a:prstGeom prst="ellipse">
            <a:avLst/>
          </a:prstGeom>
          <a:solidFill>
            <a:srgbClr val="0FB9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16736" y="3300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3300984"/>
            <a:ext cx="713232" cy="237744"/>
          </a:xfrm>
          <a:prstGeom prst="roundRect">
            <a:avLst>
              <a:gd name="adj" fmla="val 30769"/>
            </a:avLst>
          </a:prstGeom>
          <a:solidFill>
            <a:srgbClr val="E4F7F1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3300984"/>
            <a:ext cx="71323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sale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24128" y="36118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premium to another insurer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24128" y="408736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₹1,240/mo to HDFC Life. Want an honest comparison?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24128" y="478231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4782312"/>
            <a:ext cx="914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₹1,240/mo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11680" y="4782312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4782312"/>
            <a:ext cx="7132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payments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24128" y="5166360"/>
            <a:ext cx="1591056" cy="384048"/>
          </a:xfrm>
          <a:prstGeom prst="roundRect">
            <a:avLst>
              <a:gd name="adj" fmla="val 19048"/>
            </a:avLst>
          </a:prstGeom>
          <a:solidFill>
            <a:srgbClr val="1755C4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51663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honest comparison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82880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755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Life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Life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premium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₹983 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ratio (FY24)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2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 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exclusion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Suicide — 1st 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Suicide — 1st 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657600" y="493776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CEFD6"/>
          </a:solidFill>
          <a:ln/>
        </p:spPr>
      </p:sp>
      <p:sp>
        <p:nvSpPr>
          <p:cNvPr id="26" name="Text 23"/>
          <p:cNvSpPr/>
          <p:nvPr/>
        </p:nvSpPr>
        <p:spPr>
          <a:xfrm>
            <a:off x="3886200" y="49377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competitor wins:  </a:t>
            </a:r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HDFC's claim-settlement ratio is marginally higher. Diya shows it — not hides it. SBI saves ₹3,080/yr for the same cover.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657600" y="5943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“Switch only if it makes sense.”  Every figure grounded in a cited corpus · 'Talk to a human' one tap away.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 — OPEN-SHELF INVESTING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shelf so the honest guide is believed.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salary jump triggers an 'invest your raise' nudge — across the WHOLE market, not just SBI.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points to where a non-SBI option wins: UTI's index fund is cheaper; Parag Parikh out-returns SBI Bluechip.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kills the 'self-dealing' objection — so an SBI-fund recommendation is finally believed.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still earns distribution across every AMC; it wins outright where its product is best.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— the whole shelf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29400" y="2212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funds · 2 SBI · 3 others · 5 stocks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Nifty 50 Index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372600" y="2569464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E9F1FF"/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2569464"/>
            <a:ext cx="56692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012680" y="2542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44200" y="25420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Bluechip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372600" y="2953512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E9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2953512"/>
            <a:ext cx="56692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01268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744200" y="2926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Nifty 50 Index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72600" y="333756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3337560"/>
            <a:ext cx="56692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012680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44200" y="33101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0" y="3694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 Parikh Flexi Cap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72600" y="372160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3721608"/>
            <a:ext cx="56692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PPFAS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012680" y="3694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44200" y="36941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75120" y="4078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Flexi Cap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72600" y="4105656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9372600" y="4105656"/>
            <a:ext cx="56692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012680" y="4078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744200" y="40782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452628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FCEFD6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45262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non-SBI option wins:  </a:t>
            </a:r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(0.18%) is cheaper than SBI (0.20%); Parag Parikh's 5y return is higher than SBI Bluechip.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2940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Stocks: SBIN · RELIANCE · TCS · INFY · HDFCBANK — figures illustrative, not live quotes.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INVESTMENT-BREADTH UNLOCK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shelf so the honest guide is believed.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guidance  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1920240"/>
            <a:ext cx="4160520" cy="146304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9202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YONO
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shelf + guidance → feels self-dealing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920240"/>
            <a:ext cx="4160520" cy="1463040"/>
          </a:xfrm>
          <a:prstGeom prst="roundRect">
            <a:avLst>
              <a:gd name="adj" fmla="val 7500"/>
            </a:avLst>
          </a:prstGeom>
          <a:solidFill>
            <a:srgbClr val="0FB98A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35240" y="19202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YONO + Diya  ✓
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DF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market + honest guidance — a category of one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108960" y="3520440"/>
            <a:ext cx="4160520" cy="1463040"/>
          </a:xfrm>
          <a:prstGeom prst="roundRect">
            <a:avLst>
              <a:gd name="adj" fmla="val 7500"/>
            </a:avLst>
          </a:prstGeom>
          <a:solidFill>
            <a:srgbClr val="F2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5204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nobody
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shelf + no guidance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52360" y="3520440"/>
            <a:ext cx="4160520" cy="146304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35204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Groww / Zerodha
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market + no guidance — you're on your own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52360" y="50292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shelf  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competitors kills the 'self-dealing' objection — so an SBI-fund recommendation is finally believed. “Open the shelf to be believed,” not “sell less of your own.”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is the product — not a feature.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56232"/>
            <a:ext cx="420624" cy="420624"/>
          </a:xfrm>
          <a:prstGeom prst="ellipse">
            <a:avLst/>
          </a:prstGeom>
          <a:solidFill>
            <a:srgbClr val="1755C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am I seeing this?”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the exact data used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856232"/>
            <a:ext cx="420624" cy="420624"/>
          </a:xfrm>
          <a:prstGeom prst="ellipse">
            <a:avLst/>
          </a:prstGeom>
          <a:solidFill>
            <a:srgbClr val="1755C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Revocable consent gate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even to analyse a category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75320" y="1856232"/>
            <a:ext cx="420624" cy="420624"/>
          </a:xfrm>
          <a:prstGeom prst="ellipse">
            <a:avLst/>
          </a:prstGeom>
          <a:solidFill>
            <a:srgbClr val="0FB98A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2396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 human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advisor, one tap away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227832"/>
            <a:ext cx="420624" cy="420624"/>
          </a:xfrm>
          <a:prstGeom prst="ellipse">
            <a:avLst/>
          </a:prstGeom>
          <a:solidFill>
            <a:srgbClr val="0FB98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2971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Neutrality line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because it's ours”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29718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227832"/>
            <a:ext cx="420624" cy="42062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2971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+ voice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Hindi/English, read aloud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29718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3227832"/>
            <a:ext cx="420624" cy="42062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23960" y="2971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ULIPs auto-blocked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suitability filter is hard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5720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learns: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 nudge → it backs off.   Adopt Bill Pay → the adoption ladder advances to AutoPay → Credit Score → Sweep FD.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651760" y="57150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4F7F1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5715000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57150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4434840" y="57150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9F1FF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5715000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57150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6217920" y="57150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5715000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09560" y="571500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8001000" y="57150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39" name="Text 37"/>
          <p:cNvSpPr/>
          <p:nvPr/>
        </p:nvSpPr>
        <p:spPr>
          <a:xfrm>
            <a:off x="8001000" y="5715000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FD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— MISSION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loop. Every user. 100+ journeys.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Saver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18745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FD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20840" y="197510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0E3D33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97510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1329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146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Leaker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5146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compare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261518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0E3D33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61518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13294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546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Earner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1546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Open-shelf investing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32552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0E3D33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25526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13294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947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37947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discovery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389534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0E3D33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89534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13294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34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Saver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44348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redirect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453542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0E3D33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53542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29600" y="187452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13294B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210312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 5 users
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nudged · 0 held back
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autonomously.
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perceive→reason→act loop is reusable across YONO's 100+ planned journeys — and white-label-able to any bank.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POTENTIAL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revenue and removes risk.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~₹100 cr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76656" y="2743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 — YONO's fee income today from subsidiary insurance / MF distribution.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4F7F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657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income  ↑   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platform · engagement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FCEFD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5720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Mis-selling risk  ↓   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exposure SBI must fix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Reactivating a dormant digital user costs a fraction of acquiring a new one.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852160" y="178308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5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— not slideware.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Vercel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key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ANTHROPIC_API_KEY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0684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10908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a real Claude tool-calling loop with a deterministic fallback (the demo runs with or without a key).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Grounding: pure-Python TF-IDF RAG over a 15-doc cited corpus — no fabricated numbers.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hard suitability filter (ULIP block, over-budget, recently-skipped).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SQLite outcome store tuning thresholds + the adoption ladder.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· React/Vite/Tailwind · deployed serverless on Vercel.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turns SBI's biggest liabilities into its differentiator.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63040" y="2514600"/>
            <a:ext cx="9262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agentic, consent-first. Lifts adoption across products, platform &amp; investments — and removes the mis-selling risk SBI is under pressure to fix. Same framework, 100+ journeys, white-label-able to any bank.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36576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 saarthi-nu.vercel.app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SBI Hackathon @ GFF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Diya — Agentic Adoption Copilot for YONO</dc:title>
  <dc:subject>PptxGenJS Presentation</dc:subject>
  <dc:creator>Team Diya</dc:creator>
  <cp:lastModifiedBy>Team Diya</cp:lastModifiedBy>
  <cp:revision>1</cp:revision>
  <dcterms:created xsi:type="dcterms:W3CDTF">2026-06-29T17:39:37Z</dcterms:created>
  <dcterms:modified xsi:type="dcterms:W3CDTF">2026-06-29T17:39:37Z</dcterms:modified>
</cp:coreProperties>
</file>